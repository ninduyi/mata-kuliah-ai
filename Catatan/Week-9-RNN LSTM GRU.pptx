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3"/>
  </p:notesMasterIdLst>
  <p:sldIdLst>
    <p:sldId id="256" r:id="rId2"/>
    <p:sldId id="258" r:id="rId3"/>
    <p:sldId id="295" r:id="rId4"/>
    <p:sldId id="296" r:id="rId5"/>
    <p:sldId id="285" r:id="rId6"/>
    <p:sldId id="287" r:id="rId7"/>
    <p:sldId id="297" r:id="rId8"/>
    <p:sldId id="294" r:id="rId9"/>
    <p:sldId id="298" r:id="rId10"/>
    <p:sldId id="299" r:id="rId11"/>
    <p:sldId id="300" r:id="rId12"/>
  </p:sldIdLst>
  <p:sldSz cx="19010313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4" userDrawn="1">
          <p15:clr>
            <a:srgbClr val="A4A3A4"/>
          </p15:clr>
        </p15:guide>
        <p15:guide id="2" pos="11124" userDrawn="1">
          <p15:clr>
            <a:srgbClr val="A4A3A4"/>
          </p15:clr>
        </p15:guide>
        <p15:guide id="3" orient="horz" pos="6344" userDrawn="1">
          <p15:clr>
            <a:srgbClr val="A4A3A4"/>
          </p15:clr>
        </p15:guide>
        <p15:guide id="4" pos="6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F00"/>
    <a:srgbClr val="E3B525"/>
    <a:srgbClr val="009EF3"/>
    <a:srgbClr val="FFA1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0" autoAdjust="0"/>
    <p:restoredTop sz="94660"/>
  </p:normalViewPr>
  <p:slideViewPr>
    <p:cSldViewPr>
      <p:cViewPr varScale="1">
        <p:scale>
          <a:sx n="35" d="100"/>
          <a:sy n="35" d="100"/>
        </p:scale>
        <p:origin x="126" y="1236"/>
      </p:cViewPr>
      <p:guideLst>
        <p:guide orient="horz" pos="344"/>
        <p:guide pos="11124"/>
        <p:guide orient="horz" pos="6344"/>
        <p:guide pos="6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F3456-A29E-41FE-BFB7-B24F24BEE47B}" type="datetimeFigureOut">
              <a:rPr lang="cs-CZ" smtClean="0"/>
              <a:t>27.04.2026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95B543-0236-4AEE-9F15-C7CF115048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25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95B543-0236-4AEE-9F15-C7CF1150485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0733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6289" y="1750055"/>
            <a:ext cx="14257735" cy="3722887"/>
          </a:xfrm>
        </p:spPr>
        <p:txBody>
          <a:bodyPr anchor="b"/>
          <a:lstStyle>
            <a:lvl1pPr algn="ctr"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6289" y="5616511"/>
            <a:ext cx="14257735" cy="2581762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866" indent="0" algn="ctr">
              <a:buNone/>
              <a:defRPr sz="3118"/>
            </a:lvl2pPr>
            <a:lvl3pPr marL="1425732" indent="0" algn="ctr">
              <a:buNone/>
              <a:defRPr sz="2807"/>
            </a:lvl3pPr>
            <a:lvl4pPr marL="2138599" indent="0" algn="ctr">
              <a:buNone/>
              <a:defRPr sz="2495"/>
            </a:lvl4pPr>
            <a:lvl5pPr marL="2851465" indent="0" algn="ctr">
              <a:buNone/>
              <a:defRPr sz="2495"/>
            </a:lvl5pPr>
            <a:lvl6pPr marL="3564331" indent="0" algn="ctr">
              <a:buNone/>
              <a:defRPr sz="2495"/>
            </a:lvl6pPr>
            <a:lvl7pPr marL="4277197" indent="0" algn="ctr">
              <a:buNone/>
              <a:defRPr sz="2495"/>
            </a:lvl7pPr>
            <a:lvl8pPr marL="4990064" indent="0" algn="ctr">
              <a:buNone/>
              <a:defRPr sz="2495"/>
            </a:lvl8pPr>
            <a:lvl9pPr marL="5702930" indent="0" algn="ctr">
              <a:buNone/>
              <a:defRPr sz="249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969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9549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7058" y="2665925"/>
            <a:ext cx="16396395" cy="4448157"/>
          </a:xfrm>
        </p:spPr>
        <p:txBody>
          <a:bodyPr anchor="b"/>
          <a:lstStyle>
            <a:lvl1pPr>
              <a:defRPr sz="93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7058" y="7156164"/>
            <a:ext cx="16396395" cy="2339180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>
                    <a:tint val="75000"/>
                  </a:schemeClr>
                </a:solidFill>
              </a:defRPr>
            </a:lvl1pPr>
            <a:lvl2pPr marL="712866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732" indent="0">
              <a:buNone/>
              <a:defRPr sz="2807">
                <a:solidFill>
                  <a:schemeClr val="tx1">
                    <a:tint val="75000"/>
                  </a:schemeClr>
                </a:solidFill>
              </a:defRPr>
            </a:lvl3pPr>
            <a:lvl4pPr marL="2138599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4pPr>
            <a:lvl5pPr marL="2851465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5pPr>
            <a:lvl6pPr marL="3564331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6pPr>
            <a:lvl7pPr marL="4277197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7pPr>
            <a:lvl8pPr marL="4990064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8pPr>
            <a:lvl9pPr marL="5702930" indent="0">
              <a:buNone/>
              <a:defRPr sz="24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2319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06959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23971" y="2846623"/>
            <a:ext cx="807938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957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5" y="569326"/>
            <a:ext cx="16396395" cy="2066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436" y="2621369"/>
            <a:ext cx="8042253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09436" y="3906061"/>
            <a:ext cx="80422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23971" y="2621369"/>
            <a:ext cx="8081859" cy="128469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866" indent="0">
              <a:buNone/>
              <a:defRPr sz="3118" b="1"/>
            </a:lvl2pPr>
            <a:lvl3pPr marL="1425732" indent="0">
              <a:buNone/>
              <a:defRPr sz="2807" b="1"/>
            </a:lvl3pPr>
            <a:lvl4pPr marL="2138599" indent="0">
              <a:buNone/>
              <a:defRPr sz="2495" b="1"/>
            </a:lvl4pPr>
            <a:lvl5pPr marL="2851465" indent="0">
              <a:buNone/>
              <a:defRPr sz="2495" b="1"/>
            </a:lvl5pPr>
            <a:lvl6pPr marL="3564331" indent="0">
              <a:buNone/>
              <a:defRPr sz="2495" b="1"/>
            </a:lvl6pPr>
            <a:lvl7pPr marL="4277197" indent="0">
              <a:buNone/>
              <a:defRPr sz="2495" b="1"/>
            </a:lvl7pPr>
            <a:lvl8pPr marL="4990064" indent="0">
              <a:buNone/>
              <a:defRPr sz="2495" b="1"/>
            </a:lvl8pPr>
            <a:lvl9pPr marL="5702930" indent="0">
              <a:buNone/>
              <a:defRPr sz="249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623971" y="3906061"/>
            <a:ext cx="8081859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077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06622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2000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81859" y="1539652"/>
            <a:ext cx="9623971" cy="7599245"/>
          </a:xfrm>
        </p:spPr>
        <p:txBody>
          <a:bodyPr/>
          <a:lstStyle>
            <a:lvl1pPr>
              <a:defRPr sz="4989"/>
            </a:lvl1pPr>
            <a:lvl2pPr>
              <a:defRPr sz="4366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0046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436" y="712893"/>
            <a:ext cx="6131320" cy="2495127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81859" y="1539652"/>
            <a:ext cx="9623971" cy="7599245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866" indent="0">
              <a:buNone/>
              <a:defRPr sz="4366"/>
            </a:lvl2pPr>
            <a:lvl3pPr marL="1425732" indent="0">
              <a:buNone/>
              <a:defRPr sz="3742"/>
            </a:lvl3pPr>
            <a:lvl4pPr marL="2138599" indent="0">
              <a:buNone/>
              <a:defRPr sz="3118"/>
            </a:lvl4pPr>
            <a:lvl5pPr marL="2851465" indent="0">
              <a:buNone/>
              <a:defRPr sz="3118"/>
            </a:lvl5pPr>
            <a:lvl6pPr marL="3564331" indent="0">
              <a:buNone/>
              <a:defRPr sz="3118"/>
            </a:lvl6pPr>
            <a:lvl7pPr marL="4277197" indent="0">
              <a:buNone/>
              <a:defRPr sz="3118"/>
            </a:lvl7pPr>
            <a:lvl8pPr marL="4990064" indent="0">
              <a:buNone/>
              <a:defRPr sz="3118"/>
            </a:lvl8pPr>
            <a:lvl9pPr marL="5702930" indent="0">
              <a:buNone/>
              <a:defRPr sz="31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9436" y="3208020"/>
            <a:ext cx="6131320" cy="5943254"/>
          </a:xfrm>
        </p:spPr>
        <p:txBody>
          <a:bodyPr/>
          <a:lstStyle>
            <a:lvl1pPr marL="0" indent="0">
              <a:buNone/>
              <a:defRPr sz="2495"/>
            </a:lvl1pPr>
            <a:lvl2pPr marL="712866" indent="0">
              <a:buNone/>
              <a:defRPr sz="2183"/>
            </a:lvl2pPr>
            <a:lvl3pPr marL="1425732" indent="0">
              <a:buNone/>
              <a:defRPr sz="1871"/>
            </a:lvl3pPr>
            <a:lvl4pPr marL="2138599" indent="0">
              <a:buNone/>
              <a:defRPr sz="1559"/>
            </a:lvl4pPr>
            <a:lvl5pPr marL="2851465" indent="0">
              <a:buNone/>
              <a:defRPr sz="1559"/>
            </a:lvl5pPr>
            <a:lvl6pPr marL="3564331" indent="0">
              <a:buNone/>
              <a:defRPr sz="1559"/>
            </a:lvl6pPr>
            <a:lvl7pPr marL="4277197" indent="0">
              <a:buNone/>
              <a:defRPr sz="1559"/>
            </a:lvl7pPr>
            <a:lvl8pPr marL="4990064" indent="0">
              <a:buNone/>
              <a:defRPr sz="1559"/>
            </a:lvl8pPr>
            <a:lvl9pPr marL="5702930" indent="0">
              <a:buNone/>
              <a:defRPr sz="155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924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830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04255" y="569325"/>
            <a:ext cx="4099099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06959" y="569325"/>
            <a:ext cx="12059667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8634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06959" y="569326"/>
            <a:ext cx="16396395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6959" y="2846623"/>
            <a:ext cx="16396395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06959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97166" y="9911198"/>
            <a:ext cx="6415981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426034" y="9911198"/>
            <a:ext cx="4277320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1602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1425732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433" indent="-356433" algn="l" defTabSz="1425732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6" kern="1200">
          <a:solidFill>
            <a:schemeClr val="tx1"/>
          </a:solidFill>
          <a:latin typeface="+mn-lt"/>
          <a:ea typeface="+mn-ea"/>
          <a:cs typeface="+mn-cs"/>
        </a:defRPr>
      </a:lvl1pPr>
      <a:lvl2pPr marL="1069299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2166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5032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3207898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920764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633631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5346497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6059363" indent="-356433" algn="l" defTabSz="1425732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1pPr>
      <a:lvl2pPr marL="712866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2pPr>
      <a:lvl3pPr marL="1425732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3pPr>
      <a:lvl4pPr marL="2138599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4pPr>
      <a:lvl5pPr marL="2851465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5pPr>
      <a:lvl6pPr marL="3564331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6pPr>
      <a:lvl7pPr marL="4277197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7pPr>
      <a:lvl8pPr marL="4990064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8pPr>
      <a:lvl9pPr marL="5702930" algn="l" defTabSz="1425732" rtl="0" eaLnBrk="1" latinLnBrk="0" hangingPunct="1">
        <a:defRPr sz="28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20F95502-65C6-482A-9B40-DDCB8DAA9D75}"/>
              </a:ext>
            </a:extLst>
          </p:cNvPr>
          <p:cNvGrpSpPr/>
          <p:nvPr/>
        </p:nvGrpSpPr>
        <p:grpSpPr>
          <a:xfrm>
            <a:off x="0" y="0"/>
            <a:ext cx="19010313" cy="1112119"/>
            <a:chOff x="-324644" y="2222500"/>
            <a:chExt cx="22261685" cy="1302327"/>
          </a:xfrm>
        </p:grpSpPr>
        <p:sp>
          <p:nvSpPr>
            <p:cNvPr id="2" name="object 2"/>
            <p:cNvSpPr/>
            <p:nvPr/>
          </p:nvSpPr>
          <p:spPr>
            <a:xfrm>
              <a:off x="-324644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009EF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" name="object 3"/>
            <p:cNvSpPr/>
            <p:nvPr/>
          </p:nvSpPr>
          <p:spPr>
            <a:xfrm>
              <a:off x="16363156" y="2222500"/>
              <a:ext cx="5573885" cy="1302327"/>
            </a:xfrm>
            <a:custGeom>
              <a:avLst/>
              <a:gdLst/>
              <a:ahLst/>
              <a:cxn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2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3708B453-DDCE-42C1-9AB9-A8D5DDCA46AD}"/>
                </a:ext>
              </a:extLst>
            </p:cNvPr>
            <p:cNvSpPr/>
            <p:nvPr/>
          </p:nvSpPr>
          <p:spPr>
            <a:xfrm>
              <a:off x="52379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3" name="object 2">
              <a:extLst>
                <a:ext uri="{FF2B5EF4-FFF2-40B4-BE49-F238E27FC236}">
                  <a16:creationId xmlns:a16="http://schemas.microsoft.com/office/drawing/2014/main" id="{7D360C87-DA57-4F00-96B5-35199AD11657}"/>
                </a:ext>
              </a:extLst>
            </p:cNvPr>
            <p:cNvSpPr/>
            <p:nvPr/>
          </p:nvSpPr>
          <p:spPr>
            <a:xfrm>
              <a:off x="10800556" y="2222500"/>
              <a:ext cx="5600193" cy="1302327"/>
            </a:xfrm>
            <a:custGeom>
              <a:avLst/>
              <a:gdLst/>
              <a:ahLst/>
              <a:cxn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A1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672508" y="2146300"/>
            <a:ext cx="11449272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23010" marR="5080" indent="-1210945" algn="ctr">
              <a:lnSpc>
                <a:spcPct val="100000"/>
              </a:lnSpc>
              <a:spcBef>
                <a:spcPts val="100"/>
              </a:spcBef>
            </a:pPr>
            <a:r>
              <a:rPr lang="en-US" sz="11500" spc="-5" dirty="0">
                <a:solidFill>
                  <a:srgbClr val="00318B"/>
                </a:solidFill>
                <a:cs typeface="Source Sans Pro"/>
              </a:rPr>
              <a:t>RNN, LSTM, GRU</a:t>
            </a:r>
            <a:endParaRPr lang="cs-CZ" sz="11500" dirty="0">
              <a:cs typeface="Source Sans Pro"/>
            </a:endParaRPr>
          </a:p>
        </p:txBody>
      </p:sp>
      <p:sp>
        <p:nvSpPr>
          <p:cNvPr id="19" name="object 19"/>
          <p:cNvSpPr/>
          <p:nvPr/>
        </p:nvSpPr>
        <p:spPr>
          <a:xfrm flipV="1">
            <a:off x="5695156" y="4127500"/>
            <a:ext cx="7696200" cy="274319"/>
          </a:xfrm>
          <a:custGeom>
            <a:avLst/>
            <a:gdLst/>
            <a:ahLst/>
            <a:cxnLst/>
            <a:rect l="l" t="t" r="r" b="b"/>
            <a:pathLst>
              <a:path w="4686300">
                <a:moveTo>
                  <a:pt x="0" y="0"/>
                </a:moveTo>
                <a:lnTo>
                  <a:pt x="4686300" y="0"/>
                </a:lnTo>
              </a:path>
            </a:pathLst>
          </a:custGeom>
          <a:ln w="8466">
            <a:solidFill>
              <a:srgbClr val="002E8E"/>
            </a:solidFill>
          </a:ln>
        </p:spPr>
        <p:txBody>
          <a:bodyPr wrap="square" lIns="0" tIns="0" rIns="0" bIns="0" rtlCol="0"/>
          <a:lstStyle/>
          <a:p>
            <a:pPr algn="ctr"/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4782272" y="4489723"/>
            <a:ext cx="9691436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 marR="5080" indent="-133985" algn="ctr">
              <a:lnSpc>
                <a:spcPct val="100000"/>
              </a:lnSpc>
              <a:spcBef>
                <a:spcPts val="100"/>
              </a:spcBef>
            </a:pPr>
            <a:r>
              <a:rPr lang="en-US" sz="4000" spc="-5" dirty="0">
                <a:solidFill>
                  <a:srgbClr val="00A0EF"/>
                </a:solidFill>
                <a:cs typeface="Source Sans Pro Light"/>
              </a:rPr>
              <a:t>Artificial Intelligent and Machine Learning Class</a:t>
            </a:r>
            <a:endParaRPr lang="en-US" sz="4000" dirty="0">
              <a:cs typeface="Source Sans Pro Light"/>
            </a:endParaRPr>
          </a:p>
        </p:txBody>
      </p:sp>
      <p:sp>
        <p:nvSpPr>
          <p:cNvPr id="10" name="object 20">
            <a:extLst>
              <a:ext uri="{FF2B5EF4-FFF2-40B4-BE49-F238E27FC236}">
                <a16:creationId xmlns:a16="http://schemas.microsoft.com/office/drawing/2014/main" id="{FE6BE970-8B9D-C41C-9100-F4E98C2B76AC}"/>
              </a:ext>
            </a:extLst>
          </p:cNvPr>
          <p:cNvSpPr txBox="1"/>
          <p:nvPr/>
        </p:nvSpPr>
        <p:spPr>
          <a:xfrm>
            <a:off x="4654620" y="9379148"/>
            <a:ext cx="969143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" marR="5080" indent="-133985" algn="ctr">
              <a:lnSpc>
                <a:spcPct val="100000"/>
              </a:lnSpc>
              <a:spcBef>
                <a:spcPts val="100"/>
              </a:spcBef>
            </a:pPr>
            <a:r>
              <a:rPr lang="en-US" sz="2800" spc="-5" dirty="0">
                <a:solidFill>
                  <a:schemeClr val="tx2"/>
                </a:solidFill>
                <a:cs typeface="Source Sans Pro Light"/>
              </a:rPr>
              <a:t>Rizka Wakhidatus Sholikah</a:t>
            </a:r>
            <a:endParaRPr lang="en-US" sz="2800" dirty="0">
              <a:solidFill>
                <a:schemeClr val="tx2"/>
              </a:solidFill>
              <a:cs typeface="Source Sans Pr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0" y="546100"/>
            <a:ext cx="5314155" cy="828000"/>
            <a:chOff x="564554" y="8642689"/>
            <a:chExt cx="3496471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564554" y="8642693"/>
              <a:ext cx="3280372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A39365D-A6B5-4623-AC67-FBE1BB6FC527}"/>
              </a:ext>
            </a:extLst>
          </p:cNvPr>
          <p:cNvSpPr txBox="1"/>
          <p:nvPr/>
        </p:nvSpPr>
        <p:spPr>
          <a:xfrm>
            <a:off x="971550" y="530271"/>
            <a:ext cx="35814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RNN</a:t>
            </a:r>
            <a:endParaRPr lang="cs-CZ" sz="5400" dirty="0">
              <a:cs typeface="Source Sans Pro Ligh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380CF9-636A-71F9-0435-34AB9D5DB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564" y="1512300"/>
            <a:ext cx="12169351" cy="8758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C6D6D5B-2F7C-AF1C-98AA-EEE7D05C30D4}"/>
              </a:ext>
            </a:extLst>
          </p:cNvPr>
          <p:cNvGrpSpPr/>
          <p:nvPr/>
        </p:nvGrpSpPr>
        <p:grpSpPr>
          <a:xfrm>
            <a:off x="0" y="546100"/>
            <a:ext cx="4933156" cy="828000"/>
            <a:chOff x="690396" y="8642689"/>
            <a:chExt cx="3370629" cy="439424"/>
          </a:xfrm>
        </p:grpSpPr>
        <p:sp>
          <p:nvSpPr>
            <p:cNvPr id="3" name="object 4">
              <a:extLst>
                <a:ext uri="{FF2B5EF4-FFF2-40B4-BE49-F238E27FC236}">
                  <a16:creationId xmlns:a16="http://schemas.microsoft.com/office/drawing/2014/main" id="{14848EC7-5C34-D98A-B8A9-007A2B9956A3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EE1A61C2-9643-1E62-E6DA-FD23AEFE3D6C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9">
            <a:extLst>
              <a:ext uri="{FF2B5EF4-FFF2-40B4-BE49-F238E27FC236}">
                <a16:creationId xmlns:a16="http://schemas.microsoft.com/office/drawing/2014/main" id="{44CB0F66-E8B1-331B-86C3-449B4B113155}"/>
              </a:ext>
            </a:extLst>
          </p:cNvPr>
          <p:cNvSpPr txBox="1"/>
          <p:nvPr/>
        </p:nvSpPr>
        <p:spPr>
          <a:xfrm>
            <a:off x="971550" y="530271"/>
            <a:ext cx="35814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Review CNN</a:t>
            </a:r>
            <a:endParaRPr lang="cs-CZ" sz="5400" dirty="0">
              <a:cs typeface="Source Sans Pro Light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D2A19452-49E8-E319-BF1C-912598CFB27B}"/>
              </a:ext>
            </a:extLst>
          </p:cNvPr>
          <p:cNvSpPr txBox="1"/>
          <p:nvPr/>
        </p:nvSpPr>
        <p:spPr>
          <a:xfrm>
            <a:off x="971550" y="1983298"/>
            <a:ext cx="13286133" cy="1002839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In CNN the input is one image and output the probability distribution of classes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But what if the input is sequential data??</a:t>
            </a:r>
            <a:endParaRPr lang="en-US" sz="3200" dirty="0">
              <a:cs typeface="Source Sans Pro Light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D4E99FC-E092-39B6-BF35-BD7D8EC777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109"/>
          <a:stretch>
            <a:fillRect/>
          </a:stretch>
        </p:blipFill>
        <p:spPr bwMode="auto">
          <a:xfrm>
            <a:off x="837938" y="3249480"/>
            <a:ext cx="17452194" cy="6015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6596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8D1AD-C1CD-0553-5CDE-541BD6062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F89ADCE-0E51-9A20-6D75-8AF90D587F82}"/>
              </a:ext>
            </a:extLst>
          </p:cNvPr>
          <p:cNvGrpSpPr/>
          <p:nvPr/>
        </p:nvGrpSpPr>
        <p:grpSpPr>
          <a:xfrm>
            <a:off x="0" y="546100"/>
            <a:ext cx="7200900" cy="828000"/>
            <a:chOff x="690396" y="8642689"/>
            <a:chExt cx="3370629" cy="439424"/>
          </a:xfrm>
        </p:grpSpPr>
        <p:sp>
          <p:nvSpPr>
            <p:cNvPr id="3" name="object 4">
              <a:extLst>
                <a:ext uri="{FF2B5EF4-FFF2-40B4-BE49-F238E27FC236}">
                  <a16:creationId xmlns:a16="http://schemas.microsoft.com/office/drawing/2014/main" id="{34C6010A-7287-6826-B366-9EB80D9552F7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5">
              <a:extLst>
                <a:ext uri="{FF2B5EF4-FFF2-40B4-BE49-F238E27FC236}">
                  <a16:creationId xmlns:a16="http://schemas.microsoft.com/office/drawing/2014/main" id="{60D83755-3ADF-3E1B-2EE9-5C22D1536EAE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9">
            <a:extLst>
              <a:ext uri="{FF2B5EF4-FFF2-40B4-BE49-F238E27FC236}">
                <a16:creationId xmlns:a16="http://schemas.microsoft.com/office/drawing/2014/main" id="{2340848F-0062-929B-54E9-11A7C9B851CD}"/>
              </a:ext>
            </a:extLst>
          </p:cNvPr>
          <p:cNvSpPr txBox="1"/>
          <p:nvPr/>
        </p:nvSpPr>
        <p:spPr>
          <a:xfrm>
            <a:off x="971550" y="530271"/>
            <a:ext cx="622935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Sequential Learning</a:t>
            </a:r>
            <a:endParaRPr lang="cs-CZ" sz="5400" dirty="0">
              <a:cs typeface="Source Sans Pro Light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65A73016-8214-C817-28C0-A8CA34CE1679}"/>
              </a:ext>
            </a:extLst>
          </p:cNvPr>
          <p:cNvSpPr txBox="1"/>
          <p:nvPr/>
        </p:nvSpPr>
        <p:spPr>
          <a:xfrm>
            <a:off x="971550" y="1983298"/>
            <a:ext cx="13286133" cy="503214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Sequential learning is a process to learn from data that has sequence.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The model need to process the input in sequential manners and use the previous information to understand the next information.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Example: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I am studying AI right now</a:t>
            </a:r>
          </a:p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Example of Sequence data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Speech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DNA sequence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Sentences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 err="1">
                <a:cs typeface="Source Sans Pro Light"/>
              </a:rPr>
              <a:t>etc</a:t>
            </a:r>
            <a:endParaRPr lang="en-US" sz="3200" dirty="0"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315891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0" y="546100"/>
            <a:ext cx="4933156" cy="828000"/>
            <a:chOff x="690396" y="8642689"/>
            <a:chExt cx="337062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956B9AF0-2871-E876-7E48-DF65D909EAC9}"/>
              </a:ext>
            </a:extLst>
          </p:cNvPr>
          <p:cNvSpPr txBox="1"/>
          <p:nvPr/>
        </p:nvSpPr>
        <p:spPr>
          <a:xfrm>
            <a:off x="971550" y="530271"/>
            <a:ext cx="35814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RNN</a:t>
            </a:r>
            <a:endParaRPr lang="cs-CZ" sz="5400" dirty="0">
              <a:cs typeface="Source Sans Pro Ligh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6C9B2BA-1305-31C0-F715-32A67CAB4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7285" y="1674292"/>
            <a:ext cx="7728103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10">
            <a:extLst>
              <a:ext uri="{FF2B5EF4-FFF2-40B4-BE49-F238E27FC236}">
                <a16:creationId xmlns:a16="http://schemas.microsoft.com/office/drawing/2014/main" id="{0ADDABF3-AAD7-3115-1733-023650BDAF7C}"/>
              </a:ext>
            </a:extLst>
          </p:cNvPr>
          <p:cNvSpPr txBox="1"/>
          <p:nvPr/>
        </p:nvSpPr>
        <p:spPr>
          <a:xfrm>
            <a:off x="971551" y="1983298"/>
            <a:ext cx="9685734" cy="200054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RNN = Recurrent Neural Network.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RNN is used and suitable for sequential data.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RNN remembering previous information in a sequential. Current output is affected by the previous input</a:t>
            </a:r>
            <a:endParaRPr lang="en-US" sz="3200" dirty="0">
              <a:cs typeface="Source Sans Pro Light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64B0BE51-54FD-F817-AD45-AFB9486A22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3541"/>
          <a:stretch>
            <a:fillRect/>
          </a:stretch>
        </p:blipFill>
        <p:spPr bwMode="auto">
          <a:xfrm>
            <a:off x="1523465" y="5476222"/>
            <a:ext cx="7981691" cy="354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2892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0" y="546100"/>
            <a:ext cx="4094957" cy="828000"/>
            <a:chOff x="1523376" y="8642689"/>
            <a:chExt cx="253764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1523376" y="8642693"/>
              <a:ext cx="2321548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4" name="object 9">
            <a:extLst>
              <a:ext uri="{FF2B5EF4-FFF2-40B4-BE49-F238E27FC236}">
                <a16:creationId xmlns:a16="http://schemas.microsoft.com/office/drawing/2014/main" id="{4B263B08-548D-DA27-4302-EF2E880E1D04}"/>
              </a:ext>
            </a:extLst>
          </p:cNvPr>
          <p:cNvSpPr txBox="1"/>
          <p:nvPr/>
        </p:nvSpPr>
        <p:spPr>
          <a:xfrm>
            <a:off x="971550" y="530271"/>
            <a:ext cx="35814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RNN</a:t>
            </a:r>
            <a:endParaRPr lang="cs-CZ" sz="5400" dirty="0">
              <a:cs typeface="Source Sans Pro Light"/>
            </a:endParaRP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AF97D878-90A8-D19F-88BB-E1650DA0230C}"/>
              </a:ext>
            </a:extLst>
          </p:cNvPr>
          <p:cNvSpPr txBox="1"/>
          <p:nvPr/>
        </p:nvSpPr>
        <p:spPr>
          <a:xfrm>
            <a:off x="971551" y="1983298"/>
            <a:ext cx="9685734" cy="497572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Type of RNN</a:t>
            </a:r>
            <a:endParaRPr lang="en-US" sz="3200" dirty="0">
              <a:cs typeface="Source Sans Pro Light"/>
            </a:endParaRPr>
          </a:p>
        </p:txBody>
      </p:sp>
      <p:pic>
        <p:nvPicPr>
          <p:cNvPr id="4098" name="Picture 2" descr="Recurrent Neural Networks (RNN) | Springer Nature Link">
            <a:extLst>
              <a:ext uri="{FF2B5EF4-FFF2-40B4-BE49-F238E27FC236}">
                <a16:creationId xmlns:a16="http://schemas.microsoft.com/office/drawing/2014/main" id="{40370EC5-5493-C240-9785-F1DF94025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954" y="3206174"/>
            <a:ext cx="13452404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8826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8C64B-141D-F9D5-EDE9-2D566964C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D322FFCD-F8F2-E604-B303-E056F8975E63}"/>
              </a:ext>
            </a:extLst>
          </p:cNvPr>
          <p:cNvGrpSpPr/>
          <p:nvPr/>
        </p:nvGrpSpPr>
        <p:grpSpPr>
          <a:xfrm>
            <a:off x="0" y="546100"/>
            <a:ext cx="4933156" cy="828000"/>
            <a:chOff x="690396" y="8642689"/>
            <a:chExt cx="337062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56DE0183-ECBA-8AA9-0548-7CCEC624FC15}"/>
                </a:ext>
              </a:extLst>
            </p:cNvPr>
            <p:cNvSpPr/>
            <p:nvPr/>
          </p:nvSpPr>
          <p:spPr>
            <a:xfrm>
              <a:off x="690396" y="8642693"/>
              <a:ext cx="3154529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04B01416-0B65-B0CA-879B-6B3769282BB5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" name="object 9">
            <a:extLst>
              <a:ext uri="{FF2B5EF4-FFF2-40B4-BE49-F238E27FC236}">
                <a16:creationId xmlns:a16="http://schemas.microsoft.com/office/drawing/2014/main" id="{D5F750A9-6458-E4F5-9BB9-E792E986ACEF}"/>
              </a:ext>
            </a:extLst>
          </p:cNvPr>
          <p:cNvSpPr txBox="1"/>
          <p:nvPr/>
        </p:nvSpPr>
        <p:spPr>
          <a:xfrm>
            <a:off x="971550" y="530271"/>
            <a:ext cx="35814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RNN</a:t>
            </a:r>
            <a:endParaRPr lang="cs-CZ" sz="5400" dirty="0">
              <a:cs typeface="Source Sans Pro Light"/>
            </a:endParaRPr>
          </a:p>
        </p:txBody>
      </p:sp>
      <p:sp>
        <p:nvSpPr>
          <p:cNvPr id="4" name="object 10">
            <a:extLst>
              <a:ext uri="{FF2B5EF4-FFF2-40B4-BE49-F238E27FC236}">
                <a16:creationId xmlns:a16="http://schemas.microsoft.com/office/drawing/2014/main" id="{91D7668E-5535-7D40-18A5-7FE88AD0B645}"/>
              </a:ext>
            </a:extLst>
          </p:cNvPr>
          <p:cNvSpPr txBox="1"/>
          <p:nvPr/>
        </p:nvSpPr>
        <p:spPr>
          <a:xfrm>
            <a:off x="971550" y="1983298"/>
            <a:ext cx="15230349" cy="706603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Problem in RNN</a:t>
            </a: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b="1" spc="-20" dirty="0">
                <a:cs typeface="Source Sans Pro Light"/>
              </a:rPr>
              <a:t>Vanishing Gradient </a:t>
            </a: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 Information fade over time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Only focus on new information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Long term information no longer has effect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Simple example</a:t>
            </a:r>
          </a:p>
          <a:p>
            <a:pPr marL="1727200" lvl="3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Multiplication with value &lt; 1</a:t>
            </a:r>
          </a:p>
          <a:p>
            <a:pPr marL="1727200" lvl="3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D" sz="3200" dirty="0"/>
              <a:t>0.5×0.5×0.5×0.5×0.5=0.03125</a:t>
            </a:r>
            <a:endParaRPr lang="en-ID" sz="3200" spc="-20" dirty="0">
              <a:cs typeface="Source Sans Pro Light"/>
              <a:sym typeface="Wingdings" panose="05000000000000000000" pitchFamily="2" charset="2"/>
            </a:endParaRPr>
          </a:p>
          <a:p>
            <a:pPr marL="1384300" lvl="3">
              <a:spcBef>
                <a:spcPts val="100"/>
              </a:spcBef>
            </a:pPr>
            <a:endParaRPr lang="en-US" sz="3200" spc="-20" dirty="0">
              <a:cs typeface="Source Sans Pro Light"/>
              <a:sym typeface="Wingdings" panose="05000000000000000000" pitchFamily="2" charset="2"/>
            </a:endParaRPr>
          </a:p>
          <a:p>
            <a:pPr marL="812800" lvl="1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b="1" spc="-20" dirty="0">
                <a:cs typeface="Source Sans Pro Light"/>
              </a:rPr>
              <a:t>Exploding Gradient </a:t>
            </a: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 The gradient became too large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The update weight became huge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Unstable model</a:t>
            </a:r>
          </a:p>
          <a:p>
            <a:pPr marL="1270000" lvl="2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Simple example</a:t>
            </a:r>
          </a:p>
          <a:p>
            <a:pPr marL="1727200" lvl="3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  <a:sym typeface="Wingdings" panose="05000000000000000000" pitchFamily="2" charset="2"/>
              </a:rPr>
              <a:t>Multiplication with value &gt;1</a:t>
            </a:r>
          </a:p>
          <a:p>
            <a:pPr marL="1727200" lvl="3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ID" sz="3200" dirty="0"/>
              <a:t>1.5×1.5×1.5×1.5×1.5=7.59</a:t>
            </a:r>
            <a:endParaRPr lang="en-US" sz="3200" spc="-20" dirty="0">
              <a:cs typeface="Source Sans Pro Light"/>
            </a:endParaRPr>
          </a:p>
        </p:txBody>
      </p:sp>
      <p:pic>
        <p:nvPicPr>
          <p:cNvPr id="5122" name="Picture 2" descr="ミスコミュニケーションを減らすには？ | 就労移行支援事業所チャレンジド・アソウ">
            <a:extLst>
              <a:ext uri="{FF2B5EF4-FFF2-40B4-BE49-F238E27FC236}">
                <a16:creationId xmlns:a16="http://schemas.microsoft.com/office/drawing/2014/main" id="{80E9B85A-0A8F-6317-B254-167FBFAF5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7932" y="1356882"/>
            <a:ext cx="6264696" cy="4510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7679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DC037C-C731-4D52-835A-5765F8A4FBF2}"/>
              </a:ext>
            </a:extLst>
          </p:cNvPr>
          <p:cNvGrpSpPr/>
          <p:nvPr/>
        </p:nvGrpSpPr>
        <p:grpSpPr>
          <a:xfrm>
            <a:off x="1" y="546100"/>
            <a:ext cx="5009356" cy="828000"/>
            <a:chOff x="1523376" y="8642689"/>
            <a:chExt cx="253764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FAC1F606-62F6-4305-800B-EF4BDCC04BC6}"/>
                </a:ext>
              </a:extLst>
            </p:cNvPr>
            <p:cNvSpPr/>
            <p:nvPr/>
          </p:nvSpPr>
          <p:spPr>
            <a:xfrm>
              <a:off x="1523376" y="8642693"/>
              <a:ext cx="2321548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DE9D9B32-EA9E-452A-AFED-2BFD37C8107A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A39365D-A6B5-4623-AC67-FBE1BB6FC527}"/>
              </a:ext>
            </a:extLst>
          </p:cNvPr>
          <p:cNvSpPr txBox="1"/>
          <p:nvPr/>
        </p:nvSpPr>
        <p:spPr>
          <a:xfrm>
            <a:off x="883591" y="546092"/>
            <a:ext cx="35814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LSTM</a:t>
            </a:r>
            <a:endParaRPr lang="cs-CZ" sz="5400" dirty="0">
              <a:cs typeface="Source Sans Pro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10">
                <a:extLst>
                  <a:ext uri="{FF2B5EF4-FFF2-40B4-BE49-F238E27FC236}">
                    <a16:creationId xmlns:a16="http://schemas.microsoft.com/office/drawing/2014/main" id="{0F40EA3F-9CCB-6150-E97A-E0EF9CB6C399}"/>
                  </a:ext>
                </a:extLst>
              </p:cNvPr>
              <p:cNvSpPr txBox="1"/>
              <p:nvPr/>
            </p:nvSpPr>
            <p:spPr>
              <a:xfrm>
                <a:off x="971551" y="1983298"/>
                <a:ext cx="11053886" cy="5511765"/>
              </a:xfrm>
              <a:prstGeom prst="rect">
                <a:avLst/>
              </a:prstGeom>
            </p:spPr>
            <p:txBody>
              <a:bodyPr vert="horz" wrap="square" lIns="0" tIns="5080" rIns="0" bIns="0" rtlCol="0">
                <a:spAutoFit/>
              </a:bodyPr>
              <a:lstStyle/>
              <a:p>
                <a:pPr marL="355600" indent="-342900">
                  <a:lnSpc>
                    <a:spcPct val="100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en-US" sz="3200" spc="-20" dirty="0">
                    <a:cs typeface="Source Sans Pro Light"/>
                  </a:rPr>
                  <a:t>LSTM = Long Short-Term Memory</a:t>
                </a:r>
              </a:p>
              <a:p>
                <a:pPr marL="355600" indent="-342900">
                  <a:lnSpc>
                    <a:spcPct val="100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en-US" sz="3200" spc="-20" dirty="0">
                    <a:cs typeface="Source Sans Pro Light"/>
                  </a:rPr>
                  <a:t>LSTM tackles the problem of RNN by introducing the three-gate mechanism.</a:t>
                </a:r>
              </a:p>
              <a:p>
                <a:pPr marL="812800" lvl="1" indent="-34290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en-US" sz="3200" spc="-20" dirty="0">
                    <a:cs typeface="Source Sans Pro Light"/>
                  </a:rPr>
                  <a:t>Forget Gate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pc="-20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3200" b="0" i="1" spc="-20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US" sz="3200" i="1" spc="-20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3200" spc="-20" dirty="0">
                    <a:cs typeface="Source Sans Pro Light"/>
                    <a:sym typeface="Wingdings" panose="05000000000000000000" pitchFamily="2" charset="2"/>
                  </a:rPr>
                  <a:t> </a:t>
                </a:r>
                <a:r>
                  <a:rPr lang="en-US" sz="3200" spc="-20" dirty="0">
                    <a:cs typeface="Source Sans Pro Light"/>
                  </a:rPr>
                  <a:t> decide the information should be forget </a:t>
                </a:r>
              </a:p>
              <a:p>
                <a:pPr marL="812800" lvl="1" indent="-34290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en-US" sz="3200" spc="-20" dirty="0">
                    <a:cs typeface="Source Sans Pro Light"/>
                  </a:rPr>
                  <a:t>Input Gate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pc="-20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3200" b="0" i="1" spc="-20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𝑖</m:t>
                        </m:r>
                      </m:e>
                      <m:sub>
                        <m:r>
                          <a:rPr lang="en-US" sz="3200" i="1" spc="-20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3200" spc="-20" dirty="0">
                    <a:cs typeface="Source Sans Pro Light"/>
                  </a:rPr>
                  <a:t> </a:t>
                </a:r>
                <a:r>
                  <a:rPr lang="en-US" sz="3200" spc="-20" dirty="0">
                    <a:cs typeface="Source Sans Pro Light"/>
                    <a:sym typeface="Wingdings" panose="05000000000000000000" pitchFamily="2" charset="2"/>
                  </a:rPr>
                  <a:t> decide which information should be added into memory</a:t>
                </a:r>
                <a:endParaRPr lang="en-US" sz="3200" spc="-20" dirty="0">
                  <a:cs typeface="Source Sans Pro Light"/>
                </a:endParaRPr>
              </a:p>
              <a:p>
                <a:pPr marL="812800" lvl="1" indent="-34290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en-US" sz="3200" spc="-20" dirty="0">
                    <a:cs typeface="Source Sans Pro Light"/>
                  </a:rPr>
                  <a:t>Output Gate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pc="-20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3200" b="0" i="1" spc="-20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𝑜</m:t>
                        </m:r>
                      </m:e>
                      <m:sub>
                        <m:r>
                          <a:rPr lang="en-US" sz="3200" i="1" spc="-20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3200" i="1" spc="-20" dirty="0">
                    <a:cs typeface="Source Sans Pro Light"/>
                  </a:rPr>
                  <a:t> </a:t>
                </a:r>
                <a:r>
                  <a:rPr lang="en-US" sz="3200" spc="-20" dirty="0">
                    <a:cs typeface="Source Sans Pro Light"/>
                  </a:rPr>
                  <a:t> </a:t>
                </a:r>
                <a:r>
                  <a:rPr lang="en-US" sz="3200" spc="-20" dirty="0">
                    <a:cs typeface="Source Sans Pro Light"/>
                    <a:sym typeface="Wingdings" panose="05000000000000000000" pitchFamily="2" charset="2"/>
                  </a:rPr>
                  <a:t> the output</a:t>
                </a:r>
              </a:p>
              <a:p>
                <a:pPr marL="355600" indent="-34290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pc="-20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3200" b="0" i="1" spc="-20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</m:e>
                      <m:sub>
                        <m:r>
                          <a:rPr lang="en-US" sz="3200" b="0" i="1" spc="-20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3200" spc="-20" dirty="0">
                    <a:cs typeface="Source Sans Pro Light"/>
                    <a:sym typeface="Wingdings" panose="05000000000000000000" pitchFamily="2" charset="2"/>
                  </a:rPr>
                  <a:t>  cell state  long-term memory</a:t>
                </a:r>
              </a:p>
              <a:p>
                <a:pPr marL="355600" indent="-34290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pc="-2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3200" b="0" i="1" spc="-2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</m:e>
                      <m:sub>
                        <m:r>
                          <a:rPr lang="en-US" sz="3200" b="0" i="1" spc="-2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3200" spc="-20" dirty="0">
                    <a:cs typeface="Source Sans Pro Light"/>
                    <a:sym typeface="Wingdings" panose="05000000000000000000" pitchFamily="2" charset="2"/>
                  </a:rPr>
                  <a:t>  hidden state  short-term memory</a:t>
                </a:r>
              </a:p>
              <a:p>
                <a:pPr marL="355600" indent="-34290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pc="-20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3200" i="1" spc="-20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</m:e>
                      <m:sub>
                        <m:r>
                          <a:rPr lang="en-US" sz="3200" i="1" spc="-20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3200" spc="-20" dirty="0">
                    <a:cs typeface="Source Sans Pro Light"/>
                    <a:sym typeface="Wingdings" panose="05000000000000000000" pitchFamily="2" charset="2"/>
                  </a:rPr>
                  <a:t> </a:t>
                </a:r>
                <a:r>
                  <a:rPr lang="en-ID" sz="3200" dirty="0"/>
                  <a:t>is what the model remembers, </a:t>
                </a:r>
                <a:br>
                  <a:rPr lang="en-ID" sz="32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pc="-2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3200" i="1" spc="-2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h</m:t>
                        </m:r>
                      </m:e>
                      <m:sub>
                        <m:r>
                          <a:rPr lang="en-US" sz="3200" i="1" spc="-2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3200" spc="-20" dirty="0">
                    <a:cs typeface="Source Sans Pro Light"/>
                    <a:sym typeface="Wingdings" panose="05000000000000000000" pitchFamily="2" charset="2"/>
                  </a:rPr>
                  <a:t> </a:t>
                </a:r>
                <a:r>
                  <a:rPr lang="en-ID" sz="3200" dirty="0"/>
                  <a:t>is what the model uses right now</a:t>
                </a:r>
                <a:endParaRPr lang="en-US" sz="3200" spc="-20" dirty="0">
                  <a:cs typeface="Source Sans Pro Light"/>
                </a:endParaRPr>
              </a:p>
            </p:txBody>
          </p:sp>
        </mc:Choice>
        <mc:Fallback>
          <p:sp>
            <p:nvSpPr>
              <p:cNvPr id="6" name="object 10">
                <a:extLst>
                  <a:ext uri="{FF2B5EF4-FFF2-40B4-BE49-F238E27FC236}">
                    <a16:creationId xmlns:a16="http://schemas.microsoft.com/office/drawing/2014/main" id="{0F40EA3F-9CCB-6150-E97A-E0EF9CB6C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1" y="1983298"/>
                <a:ext cx="11053886" cy="5511765"/>
              </a:xfrm>
              <a:prstGeom prst="rect">
                <a:avLst/>
              </a:prstGeom>
              <a:blipFill>
                <a:blip r:embed="rId2"/>
                <a:stretch>
                  <a:fillRect l="-1985" t="-2099" b="-3536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utoShape 2">
            <a:extLst>
              <a:ext uri="{FF2B5EF4-FFF2-40B4-BE49-F238E27FC236}">
                <a16:creationId xmlns:a16="http://schemas.microsoft.com/office/drawing/2014/main" id="{54C83958-E21D-5E97-AB14-E6755A39E3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51963" y="51943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6152" name="Picture 8" descr="Complete LSTM architecture with equations showing how information moves...  | Download Scientific Diagram">
            <a:extLst>
              <a:ext uri="{FF2B5EF4-FFF2-40B4-BE49-F238E27FC236}">
                <a16:creationId xmlns:a16="http://schemas.microsoft.com/office/drawing/2014/main" id="{25D5DAE6-2059-FEC9-0ED3-745157BDC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4972" y="4739180"/>
            <a:ext cx="9943190" cy="5778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6F6251-101D-F6F6-B3D2-34E65B34364C}"/>
              </a:ext>
            </a:extLst>
          </p:cNvPr>
          <p:cNvSpPr txBox="1"/>
          <p:nvPr/>
        </p:nvSpPr>
        <p:spPr>
          <a:xfrm>
            <a:off x="10290106" y="9811196"/>
            <a:ext cx="57929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/>
              <a:t>https://www.researchgate.net/publication/351291905_Long_Short-Term_Memory_Networks_for_Facility_Infrastructure_Failure_and_Remaining_Useful_Life_Prediction/figures?lo=1&amp;utm_source=google&amp;utm_medium=organic</a:t>
            </a:r>
          </a:p>
        </p:txBody>
      </p:sp>
    </p:spTree>
    <p:extLst>
      <p:ext uri="{BB962C8B-B14F-4D97-AF65-F5344CB8AC3E}">
        <p14:creationId xmlns:p14="http://schemas.microsoft.com/office/powerpoint/2010/main" val="2011769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37BE8-ED25-2C4A-8668-3384D3A06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8A1F5C3-A50A-6383-B0AA-6DA98CA5D21B}"/>
              </a:ext>
            </a:extLst>
          </p:cNvPr>
          <p:cNvGrpSpPr/>
          <p:nvPr/>
        </p:nvGrpSpPr>
        <p:grpSpPr>
          <a:xfrm>
            <a:off x="1" y="546100"/>
            <a:ext cx="5009356" cy="828000"/>
            <a:chOff x="1523376" y="8642689"/>
            <a:chExt cx="253764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7131009B-0448-E2CA-8A65-A78492BD9ECA}"/>
                </a:ext>
              </a:extLst>
            </p:cNvPr>
            <p:cNvSpPr/>
            <p:nvPr/>
          </p:nvSpPr>
          <p:spPr>
            <a:xfrm>
              <a:off x="1523376" y="8642693"/>
              <a:ext cx="2321548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CB21289A-15E1-86C9-03FD-FE3C5FA8E974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0CE94BBA-8C46-14CC-17C2-DE55B8131721}"/>
              </a:ext>
            </a:extLst>
          </p:cNvPr>
          <p:cNvSpPr txBox="1"/>
          <p:nvPr/>
        </p:nvSpPr>
        <p:spPr>
          <a:xfrm>
            <a:off x="883591" y="546092"/>
            <a:ext cx="35814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LSTM</a:t>
            </a:r>
            <a:endParaRPr lang="cs-CZ" sz="5400" dirty="0">
              <a:cs typeface="Source Sans Pro Light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5C57951C-3CF0-9284-2F90-39E94E8CC46E}"/>
              </a:ext>
            </a:extLst>
          </p:cNvPr>
          <p:cNvSpPr txBox="1"/>
          <p:nvPr/>
        </p:nvSpPr>
        <p:spPr>
          <a:xfrm>
            <a:off x="971551" y="1983298"/>
            <a:ext cx="11053886" cy="1002839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-20" dirty="0">
                <a:cs typeface="Source Sans Pro Light"/>
              </a:rPr>
              <a:t>Bidirectional LSTM (Bi-LSTM)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Type of LSTM that has two direction, forward and backward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924294E4-E7D6-482C-39B8-65F7CCCBE9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51963" y="51943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7170" name="Picture 2" descr="LSTM and BiLSTM Architectures | Download Scientific Diagram">
            <a:extLst>
              <a:ext uri="{FF2B5EF4-FFF2-40B4-BE49-F238E27FC236}">
                <a16:creationId xmlns:a16="http://schemas.microsoft.com/office/drawing/2014/main" id="{2438B072-28B6-39F8-EC9D-8D5C23E63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397" y="3756024"/>
            <a:ext cx="13753527" cy="540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8921AD-0AF6-8D6B-3286-5D587234C6D9}"/>
              </a:ext>
            </a:extLst>
          </p:cNvPr>
          <p:cNvSpPr txBox="1"/>
          <p:nvPr/>
        </p:nvSpPr>
        <p:spPr>
          <a:xfrm>
            <a:off x="4464991" y="9605981"/>
            <a:ext cx="95042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https://www.researchgate.net/publication/324769532_A_Deep_Learning_based_Approach_to_Reduced_Order_Modeling_for_Turbulent_Flow_Control_using_LSTM_Neural_Networks/figures?lo=1&amp;utm_source=google&amp;utm_medium=organic</a:t>
            </a:r>
          </a:p>
        </p:txBody>
      </p:sp>
    </p:spTree>
    <p:extLst>
      <p:ext uri="{BB962C8B-B14F-4D97-AF65-F5344CB8AC3E}">
        <p14:creationId xmlns:p14="http://schemas.microsoft.com/office/powerpoint/2010/main" val="52615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2224E-8573-DE34-341D-5E050D991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AE45D649-BCE5-02BB-123C-46FC4493FD93}"/>
              </a:ext>
            </a:extLst>
          </p:cNvPr>
          <p:cNvGrpSpPr/>
          <p:nvPr/>
        </p:nvGrpSpPr>
        <p:grpSpPr>
          <a:xfrm>
            <a:off x="1" y="546100"/>
            <a:ext cx="5009356" cy="828000"/>
            <a:chOff x="1523376" y="8642689"/>
            <a:chExt cx="253764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65776764-CEEA-5CC6-1898-D75FE00A7244}"/>
                </a:ext>
              </a:extLst>
            </p:cNvPr>
            <p:cNvSpPr/>
            <p:nvPr/>
          </p:nvSpPr>
          <p:spPr>
            <a:xfrm>
              <a:off x="1523376" y="8642693"/>
              <a:ext cx="2321548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4AB6A0C8-7748-F981-55C5-766D2A18B5C7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C56BCA30-A5F7-1AAE-D9B5-372924121EAF}"/>
              </a:ext>
            </a:extLst>
          </p:cNvPr>
          <p:cNvSpPr txBox="1"/>
          <p:nvPr/>
        </p:nvSpPr>
        <p:spPr>
          <a:xfrm>
            <a:off x="883591" y="546092"/>
            <a:ext cx="35814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GRU</a:t>
            </a:r>
            <a:endParaRPr lang="cs-CZ" sz="5400" dirty="0">
              <a:cs typeface="Source Sans Pro Light"/>
            </a:endParaRP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E598FDB2-8104-828C-0D79-716D390C7F1E}"/>
              </a:ext>
            </a:extLst>
          </p:cNvPr>
          <p:cNvSpPr txBox="1"/>
          <p:nvPr/>
        </p:nvSpPr>
        <p:spPr>
          <a:xfrm>
            <a:off x="971551" y="1983298"/>
            <a:ext cx="11053886" cy="1002839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GRU = Gated Recurrent Unit</a:t>
            </a:r>
          </a:p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3200" spc="-20" dirty="0">
                <a:cs typeface="Source Sans Pro Light"/>
              </a:rPr>
              <a:t>GRU tackle the computational of LSTM to make it more efficient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F2FF0438-7A0B-0D2C-2F94-864927D270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51963" y="51943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8196" name="Picture 4" descr="Introduction to Recurrent Neural Networks: Classic RNN, LSTM, and GRU | by  Sirine Amrane | Medium">
            <a:extLst>
              <a:ext uri="{FF2B5EF4-FFF2-40B4-BE49-F238E27FC236}">
                <a16:creationId xmlns:a16="http://schemas.microsoft.com/office/drawing/2014/main" id="{5AA7952E-5476-CD8D-65C4-350BA6DF2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98" y="3834532"/>
            <a:ext cx="18714615" cy="5628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9280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4C073-8717-D659-DB38-7D90D8B7E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9F0AECB-2AF3-74FD-A8CC-EC01E2A144E5}"/>
              </a:ext>
            </a:extLst>
          </p:cNvPr>
          <p:cNvGrpSpPr/>
          <p:nvPr/>
        </p:nvGrpSpPr>
        <p:grpSpPr>
          <a:xfrm>
            <a:off x="1" y="546100"/>
            <a:ext cx="5009356" cy="828000"/>
            <a:chOff x="1523376" y="8642689"/>
            <a:chExt cx="2537649" cy="439424"/>
          </a:xfrm>
        </p:grpSpPr>
        <p:sp>
          <p:nvSpPr>
            <p:cNvPr id="24" name="object 4">
              <a:extLst>
                <a:ext uri="{FF2B5EF4-FFF2-40B4-BE49-F238E27FC236}">
                  <a16:creationId xmlns:a16="http://schemas.microsoft.com/office/drawing/2014/main" id="{0F2AC5C1-D9F3-8D44-3DD3-BBDCD8BDC9EF}"/>
                </a:ext>
              </a:extLst>
            </p:cNvPr>
            <p:cNvSpPr/>
            <p:nvPr/>
          </p:nvSpPr>
          <p:spPr>
            <a:xfrm>
              <a:off x="1523376" y="8642693"/>
              <a:ext cx="2321548" cy="439420"/>
            </a:xfrm>
            <a:custGeom>
              <a:avLst/>
              <a:gdLst/>
              <a:ahLst/>
              <a:cxnLst/>
              <a:rect l="l" t="t" r="r" b="b"/>
              <a:pathLst>
                <a:path w="3844925" h="439420">
                  <a:moveTo>
                    <a:pt x="0" y="439204"/>
                  </a:moveTo>
                  <a:lnTo>
                    <a:pt x="3844798" y="439204"/>
                  </a:lnTo>
                  <a:lnTo>
                    <a:pt x="3844798" y="0"/>
                  </a:lnTo>
                  <a:lnTo>
                    <a:pt x="0" y="0"/>
                  </a:lnTo>
                  <a:lnTo>
                    <a:pt x="0" y="439204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5" name="object 5">
              <a:extLst>
                <a:ext uri="{FF2B5EF4-FFF2-40B4-BE49-F238E27FC236}">
                  <a16:creationId xmlns:a16="http://schemas.microsoft.com/office/drawing/2014/main" id="{F82FCEEF-3058-58FC-26D8-A29547FE5CC6}"/>
                </a:ext>
              </a:extLst>
            </p:cNvPr>
            <p:cNvSpPr/>
            <p:nvPr/>
          </p:nvSpPr>
          <p:spPr>
            <a:xfrm>
              <a:off x="3621605" y="8642689"/>
              <a:ext cx="439420" cy="439420"/>
            </a:xfrm>
            <a:custGeom>
              <a:avLst/>
              <a:gdLst/>
              <a:ahLst/>
              <a:cxnLst/>
              <a:rect l="l" t="t" r="r" b="b"/>
              <a:pathLst>
                <a:path w="439420" h="439420">
                  <a:moveTo>
                    <a:pt x="219595" y="0"/>
                  </a:moveTo>
                  <a:lnTo>
                    <a:pt x="175337" y="4461"/>
                  </a:lnTo>
                  <a:lnTo>
                    <a:pt x="134116" y="17257"/>
                  </a:lnTo>
                  <a:lnTo>
                    <a:pt x="96815" y="37505"/>
                  </a:lnTo>
                  <a:lnTo>
                    <a:pt x="64315" y="64320"/>
                  </a:lnTo>
                  <a:lnTo>
                    <a:pt x="37502" y="96820"/>
                  </a:lnTo>
                  <a:lnTo>
                    <a:pt x="17256" y="134122"/>
                  </a:lnTo>
                  <a:lnTo>
                    <a:pt x="4461" y="175341"/>
                  </a:lnTo>
                  <a:lnTo>
                    <a:pt x="0" y="219595"/>
                  </a:lnTo>
                  <a:lnTo>
                    <a:pt x="4461" y="263854"/>
                  </a:lnTo>
                  <a:lnTo>
                    <a:pt x="17256" y="305076"/>
                  </a:lnTo>
                  <a:lnTo>
                    <a:pt x="37502" y="342380"/>
                  </a:lnTo>
                  <a:lnTo>
                    <a:pt x="64315" y="374881"/>
                  </a:lnTo>
                  <a:lnTo>
                    <a:pt x="96815" y="401698"/>
                  </a:lnTo>
                  <a:lnTo>
                    <a:pt x="134116" y="421945"/>
                  </a:lnTo>
                  <a:lnTo>
                    <a:pt x="175337" y="434742"/>
                  </a:lnTo>
                  <a:lnTo>
                    <a:pt x="219595" y="439204"/>
                  </a:lnTo>
                  <a:lnTo>
                    <a:pt x="263854" y="434742"/>
                  </a:lnTo>
                  <a:lnTo>
                    <a:pt x="305076" y="421945"/>
                  </a:lnTo>
                  <a:lnTo>
                    <a:pt x="342380" y="401698"/>
                  </a:lnTo>
                  <a:lnTo>
                    <a:pt x="374881" y="374881"/>
                  </a:lnTo>
                  <a:lnTo>
                    <a:pt x="401698" y="342380"/>
                  </a:lnTo>
                  <a:lnTo>
                    <a:pt x="421945" y="305076"/>
                  </a:lnTo>
                  <a:lnTo>
                    <a:pt x="434742" y="263854"/>
                  </a:lnTo>
                  <a:lnTo>
                    <a:pt x="439204" y="219595"/>
                  </a:lnTo>
                  <a:lnTo>
                    <a:pt x="434742" y="175341"/>
                  </a:lnTo>
                  <a:lnTo>
                    <a:pt x="421945" y="134122"/>
                  </a:lnTo>
                  <a:lnTo>
                    <a:pt x="401698" y="96820"/>
                  </a:lnTo>
                  <a:lnTo>
                    <a:pt x="374881" y="64320"/>
                  </a:lnTo>
                  <a:lnTo>
                    <a:pt x="342380" y="37505"/>
                  </a:lnTo>
                  <a:lnTo>
                    <a:pt x="305076" y="17257"/>
                  </a:lnTo>
                  <a:lnTo>
                    <a:pt x="263854" y="4461"/>
                  </a:lnTo>
                  <a:lnTo>
                    <a:pt x="219595" y="0"/>
                  </a:lnTo>
                  <a:close/>
                </a:path>
              </a:pathLst>
            </a:custGeom>
            <a:solidFill>
              <a:srgbClr val="00A0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1" name="object 9">
            <a:extLst>
              <a:ext uri="{FF2B5EF4-FFF2-40B4-BE49-F238E27FC236}">
                <a16:creationId xmlns:a16="http://schemas.microsoft.com/office/drawing/2014/main" id="{343A23B5-7BC4-F57E-29A9-EE8123495ED1}"/>
              </a:ext>
            </a:extLst>
          </p:cNvPr>
          <p:cNvSpPr txBox="1"/>
          <p:nvPr/>
        </p:nvSpPr>
        <p:spPr>
          <a:xfrm>
            <a:off x="883591" y="546092"/>
            <a:ext cx="35814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400" dirty="0">
                <a:solidFill>
                  <a:srgbClr val="FFFFFF"/>
                </a:solidFill>
                <a:cs typeface="Source Sans Pro Light"/>
              </a:rPr>
              <a:t>GRU</a:t>
            </a:r>
            <a:endParaRPr lang="cs-CZ" sz="5400" dirty="0">
              <a:cs typeface="Source Sans Pro Ligh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object 10">
                <a:extLst>
                  <a:ext uri="{FF2B5EF4-FFF2-40B4-BE49-F238E27FC236}">
                    <a16:creationId xmlns:a16="http://schemas.microsoft.com/office/drawing/2014/main" id="{904D122B-8C3F-02AA-834B-CDCEA540C7E6}"/>
                  </a:ext>
                </a:extLst>
              </p:cNvPr>
              <p:cNvSpPr txBox="1"/>
              <p:nvPr/>
            </p:nvSpPr>
            <p:spPr>
              <a:xfrm>
                <a:off x="971551" y="1983298"/>
                <a:ext cx="11053886" cy="3528915"/>
              </a:xfrm>
              <a:prstGeom prst="rect">
                <a:avLst/>
              </a:prstGeom>
            </p:spPr>
            <p:txBody>
              <a:bodyPr vert="horz" wrap="square" lIns="0" tIns="5080" rIns="0" bIns="0" rtlCol="0">
                <a:spAutoFit/>
              </a:bodyPr>
              <a:lstStyle/>
              <a:p>
                <a:pPr marL="355600" indent="-342900">
                  <a:lnSpc>
                    <a:spcPct val="100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en-US" sz="3200" spc="-20" dirty="0">
                    <a:cs typeface="Source Sans Pro Light"/>
                  </a:rPr>
                  <a:t>Key idea of GRU remove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pc="-20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3200" i="1" spc="-20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𝐶</m:t>
                        </m:r>
                      </m:e>
                      <m:sub>
                        <m:r>
                          <a:rPr lang="en-US" sz="3200" i="1" spc="-20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3200" spc="-20" dirty="0">
                    <a:cs typeface="Source Sans Pro Light"/>
                  </a:rPr>
                  <a:t> in LSTM, make GRU simpler and faster compare to LSTM</a:t>
                </a:r>
              </a:p>
              <a:p>
                <a:pPr marL="355600" indent="-342900">
                  <a:lnSpc>
                    <a:spcPct val="100000"/>
                  </a:lnSpc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en-US" sz="3200" spc="-20" dirty="0">
                    <a:cs typeface="Source Sans Pro Light"/>
                  </a:rPr>
                  <a:t>There are two gates:</a:t>
                </a:r>
              </a:p>
              <a:p>
                <a:pPr marL="812800" lvl="1" indent="-34290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en-US" sz="3200" spc="-20" dirty="0">
                    <a:cs typeface="Source Sans Pro Light"/>
                  </a:rPr>
                  <a:t>Update gate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pc="-20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3200" b="0" i="1" spc="-20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𝑧</m:t>
                        </m:r>
                      </m:e>
                      <m:sub>
                        <m:r>
                          <a:rPr lang="en-US" sz="3200" i="1" spc="-20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3200" spc="-20" dirty="0">
                    <a:cs typeface="Source Sans Pro Light"/>
                    <a:sym typeface="Wingdings" panose="05000000000000000000" pitchFamily="2" charset="2"/>
                  </a:rPr>
                  <a:t>  control how much information is kept</a:t>
                </a:r>
              </a:p>
              <a:p>
                <a:pPr marL="812800" lvl="1" indent="-34290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:r>
                  <a:rPr lang="en-US" sz="3200" spc="-20" dirty="0">
                    <a:cs typeface="Source Sans Pro Light"/>
                    <a:sym typeface="Wingdings" panose="05000000000000000000" pitchFamily="2" charset="2"/>
                  </a:rPr>
                  <a:t>Reset gate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pc="-20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sz="3200" b="0" i="1" spc="-20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𝑟</m:t>
                        </m:r>
                      </m:e>
                      <m:sub>
                        <m:r>
                          <a:rPr lang="en-US" sz="3200" i="1" spc="-20" dirty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3200" spc="-20" dirty="0">
                    <a:cs typeface="Source Sans Pro Light"/>
                    <a:sym typeface="Wingdings" panose="05000000000000000000" pitchFamily="2" charset="2"/>
                  </a:rPr>
                  <a:t>  control how much information is ignored</a:t>
                </a:r>
              </a:p>
              <a:p>
                <a:pPr marL="355600" indent="-342900">
                  <a:spcBef>
                    <a:spcPts val="1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3200" i="1" spc="-2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3200" i="1" spc="-20" dirty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bPr>
                          <m:e>
                            <m:r>
                              <a:rPr lang="en-US" sz="3200" b="0" i="1" spc="-20" dirty="0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h</m:t>
                            </m:r>
                          </m:e>
                          <m:sub>
                            <m:r>
                              <a:rPr lang="en-US" sz="3200" i="1" spc="-20" dirty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𝑡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3200" spc="-20" dirty="0">
                    <a:cs typeface="Source Sans Pro Light"/>
                    <a:sym typeface="Wingdings" panose="05000000000000000000" pitchFamily="2" charset="2"/>
                  </a:rPr>
                  <a:t>  Candidate hidden state, new information based on current input and filtered past information</a:t>
                </a:r>
              </a:p>
            </p:txBody>
          </p:sp>
        </mc:Choice>
        <mc:Fallback>
          <p:sp>
            <p:nvSpPr>
              <p:cNvPr id="6" name="object 10">
                <a:extLst>
                  <a:ext uri="{FF2B5EF4-FFF2-40B4-BE49-F238E27FC236}">
                    <a16:creationId xmlns:a16="http://schemas.microsoft.com/office/drawing/2014/main" id="{904D122B-8C3F-02AA-834B-CDCEA540C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51" y="1983298"/>
                <a:ext cx="11053886" cy="3528915"/>
              </a:xfrm>
              <a:prstGeom prst="rect">
                <a:avLst/>
              </a:prstGeom>
              <a:blipFill>
                <a:blip r:embed="rId2"/>
                <a:stretch>
                  <a:fillRect l="-1985" t="-3109" r="-1488" b="-6218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utoShape 2">
            <a:extLst>
              <a:ext uri="{FF2B5EF4-FFF2-40B4-BE49-F238E27FC236}">
                <a16:creationId xmlns:a16="http://schemas.microsoft.com/office/drawing/2014/main" id="{7D3E01ED-7EE2-9FC9-3595-A17EFE2703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351963" y="51943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9CADE925-12E9-860A-393E-1D6294B5C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770" y="6121411"/>
            <a:ext cx="1236345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354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gnetic Fields - by Lifeliqe autor Michael Carter.pptx" id="{1CD8B0ED-503E-4F9D-BE1F-EA91A594AAD6}" vid="{DDA4976A-1FAE-4427-8059-0A415774D0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Magnetism Magnetic Fields</Template>
  <TotalTime>173</TotalTime>
  <Words>472</Words>
  <Application>Microsoft Office PowerPoint</Application>
  <PresentationFormat>Custom</PresentationFormat>
  <Paragraphs>62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Source Sans Pro</vt:lpstr>
      <vt:lpstr>Source Sans Pro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Institut Teknologi Sepuluh Nopember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Rizka Wakhidatus Sholikah</dc:creator>
  <cp:lastModifiedBy>Rizka Wakhidatus Sholikah</cp:lastModifiedBy>
  <cp:revision>1</cp:revision>
  <dcterms:created xsi:type="dcterms:W3CDTF">2026-04-27T01:42:07Z</dcterms:created>
  <dcterms:modified xsi:type="dcterms:W3CDTF">2026-04-27T04:35:25Z</dcterms:modified>
</cp:coreProperties>
</file>