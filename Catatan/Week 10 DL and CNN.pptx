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1"/>
  </p:notesMasterIdLst>
  <p:sldIdLst>
    <p:sldId id="256" r:id="rId2"/>
    <p:sldId id="258" r:id="rId3"/>
    <p:sldId id="295" r:id="rId4"/>
    <p:sldId id="301" r:id="rId5"/>
    <p:sldId id="296" r:id="rId6"/>
    <p:sldId id="285" r:id="rId7"/>
    <p:sldId id="303" r:id="rId8"/>
    <p:sldId id="302" r:id="rId9"/>
    <p:sldId id="304" r:id="rId10"/>
    <p:sldId id="305" r:id="rId11"/>
    <p:sldId id="287" r:id="rId12"/>
    <p:sldId id="297" r:id="rId13"/>
    <p:sldId id="306" r:id="rId14"/>
    <p:sldId id="307" r:id="rId15"/>
    <p:sldId id="308" r:id="rId16"/>
    <p:sldId id="309" r:id="rId17"/>
    <p:sldId id="310" r:id="rId18"/>
    <p:sldId id="311" r:id="rId19"/>
    <p:sldId id="312" r:id="rId20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124" userDrawn="1">
          <p15:clr>
            <a:srgbClr val="A4A3A4"/>
          </p15:clr>
        </p15:guide>
        <p15:guide id="3" orient="horz" pos="6344" userDrawn="1">
          <p15:clr>
            <a:srgbClr val="A4A3A4"/>
          </p15:clr>
        </p15:guide>
        <p15:guide id="4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E3B525"/>
    <a:srgbClr val="009EF3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4660"/>
  </p:normalViewPr>
  <p:slideViewPr>
    <p:cSldViewPr>
      <p:cViewPr varScale="1">
        <p:scale>
          <a:sx n="35" d="100"/>
          <a:sy n="35" d="100"/>
        </p:scale>
        <p:origin x="24" y="1182"/>
      </p:cViewPr>
      <p:guideLst>
        <p:guide orient="horz" pos="344"/>
        <p:guide pos="11124"/>
        <p:guide orient="horz" pos="6344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2148" y="2146300"/>
            <a:ext cx="18074008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11500" spc="-5" dirty="0">
                <a:solidFill>
                  <a:srgbClr val="00318B"/>
                </a:solidFill>
                <a:cs typeface="Source Sans Pro"/>
              </a:rPr>
              <a:t>Introduction to Deep Learning</a:t>
            </a:r>
            <a:endParaRPr lang="cs-CZ" sz="11500" dirty="0">
              <a:cs typeface="Source Sans Pro"/>
            </a:endParaRPr>
          </a:p>
        </p:txBody>
      </p:sp>
      <p:sp>
        <p:nvSpPr>
          <p:cNvPr id="19" name="object 19"/>
          <p:cNvSpPr/>
          <p:nvPr/>
        </p:nvSpPr>
        <p:spPr>
          <a:xfrm flipV="1">
            <a:off x="5695156" y="4127500"/>
            <a:ext cx="7696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4782272" y="4489723"/>
            <a:ext cx="969143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>
                <a:solidFill>
                  <a:srgbClr val="00A0EF"/>
                </a:solidFill>
                <a:cs typeface="Source Sans Pro Light"/>
              </a:rPr>
              <a:t>Artificial Intelligent and Machine Learning Class</a:t>
            </a:r>
            <a:endParaRPr lang="en-US" sz="4000" dirty="0">
              <a:cs typeface="Source Sans Pro Light"/>
            </a:endParaRPr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FE6BE970-8B9D-C41C-9100-F4E98C2B76AC}"/>
              </a:ext>
            </a:extLst>
          </p:cNvPr>
          <p:cNvSpPr txBox="1"/>
          <p:nvPr/>
        </p:nvSpPr>
        <p:spPr>
          <a:xfrm>
            <a:off x="4654620" y="9379148"/>
            <a:ext cx="96914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5" dirty="0">
                <a:solidFill>
                  <a:schemeClr val="tx2"/>
                </a:solidFill>
                <a:cs typeface="Source Sans Pro Light"/>
              </a:rPr>
              <a:t>Rizka Wakhidatus Sholikah</a:t>
            </a:r>
            <a:endParaRPr lang="en-US" sz="2800" dirty="0">
              <a:solidFill>
                <a:schemeClr val="tx2"/>
              </a:solidFill>
              <a:cs typeface="Source Sans Pr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5314155" cy="828000"/>
            <a:chOff x="564554" y="8642689"/>
            <a:chExt cx="3496471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What is DL?</a:t>
            </a:r>
            <a:endParaRPr lang="cs-CZ" sz="5400" dirty="0">
              <a:cs typeface="Source Sans Pro Light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8E42C9DC-C7A9-98E7-F2A1-AA3AB2E5D5AC}"/>
              </a:ext>
            </a:extLst>
          </p:cNvPr>
          <p:cNvSpPr txBox="1"/>
          <p:nvPr/>
        </p:nvSpPr>
        <p:spPr>
          <a:xfrm>
            <a:off x="971550" y="1983298"/>
            <a:ext cx="15662398" cy="9900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Deep Learning (DL) is a </a:t>
            </a:r>
            <a:r>
              <a:rPr lang="en-US" sz="3200" b="1" spc="-20" dirty="0">
                <a:cs typeface="Source Sans Pro Light"/>
              </a:rPr>
              <a:t>subset</a:t>
            </a:r>
            <a:r>
              <a:rPr lang="en-US" sz="3200" spc="-20" dirty="0">
                <a:cs typeface="Source Sans Pro Light"/>
              </a:rPr>
              <a:t> of </a:t>
            </a:r>
            <a:r>
              <a:rPr lang="en-US" sz="3200" b="1" spc="-20" dirty="0">
                <a:cs typeface="Source Sans Pro Light"/>
              </a:rPr>
              <a:t>machine learning </a:t>
            </a:r>
            <a:r>
              <a:rPr lang="en-US" sz="3200" spc="-20" dirty="0">
                <a:cs typeface="Source Sans Pro Light"/>
              </a:rPr>
              <a:t>driven by multilayered neural networks whose design is inspired by the structure of the human brain - IBM</a:t>
            </a:r>
            <a:endParaRPr lang="en-US" sz="3200" dirty="0">
              <a:cs typeface="Source Sans Pro Light"/>
            </a:endParaRPr>
          </a:p>
        </p:txBody>
      </p:sp>
      <p:pic>
        <p:nvPicPr>
          <p:cNvPr id="3" name="Picture 2" descr="AI Vs ML VS DL">
            <a:extLst>
              <a:ext uri="{FF2B5EF4-FFF2-40B4-BE49-F238E27FC236}">
                <a16:creationId xmlns:a16="http://schemas.microsoft.com/office/drawing/2014/main" id="{173D3770-B359-F05A-1AA8-FB4ADA679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156" y="4050556"/>
            <a:ext cx="12192000" cy="512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6D6D5B-2F7C-AF1C-98AA-EEE7D05C30D4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14848EC7-5C34-D98A-B8A9-007A2B9956A3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EE1A61C2-9643-1E62-E6DA-FD23AEFE3D6C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9">
            <a:extLst>
              <a:ext uri="{FF2B5EF4-FFF2-40B4-BE49-F238E27FC236}">
                <a16:creationId xmlns:a16="http://schemas.microsoft.com/office/drawing/2014/main" id="{44CB0F66-E8B1-331B-86C3-449B4B113155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ML vs DL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D2A19452-49E8-E319-BF1C-912598CFB27B}"/>
              </a:ext>
            </a:extLst>
          </p:cNvPr>
          <p:cNvSpPr txBox="1"/>
          <p:nvPr/>
        </p:nvSpPr>
        <p:spPr>
          <a:xfrm>
            <a:off x="971550" y="1983298"/>
            <a:ext cx="13286133" cy="9900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Machine learning need hand crafted features while deep learning extract features automatically during training.</a:t>
            </a:r>
            <a:endParaRPr lang="en-US" sz="3200" dirty="0">
              <a:cs typeface="Source Sans Pro Ligh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8F32B8-F425-9B52-43E7-5083DCB1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4430793"/>
            <a:ext cx="11875345" cy="571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9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0327-736E-A53A-B56E-BDD1B901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878F32-5E73-A0B1-2C96-7B97CBFBA606}"/>
              </a:ext>
            </a:extLst>
          </p:cNvPr>
          <p:cNvGrpSpPr/>
          <p:nvPr/>
        </p:nvGrpSpPr>
        <p:grpSpPr>
          <a:xfrm>
            <a:off x="0" y="546100"/>
            <a:ext cx="8929092" cy="828000"/>
            <a:chOff x="690396" y="8642689"/>
            <a:chExt cx="3370629" cy="439424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085A3D72-066E-B9AA-94A7-493250AF736D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CECA430E-7266-42D7-678D-9AA21A6D5BDB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9">
            <a:extLst>
              <a:ext uri="{FF2B5EF4-FFF2-40B4-BE49-F238E27FC236}">
                <a16:creationId xmlns:a16="http://schemas.microsoft.com/office/drawing/2014/main" id="{F435E84B-F9E4-7200-7EED-DE22AAFC0FE8}"/>
              </a:ext>
            </a:extLst>
          </p:cNvPr>
          <p:cNvSpPr txBox="1"/>
          <p:nvPr/>
        </p:nvSpPr>
        <p:spPr>
          <a:xfrm>
            <a:off x="971550" y="530271"/>
            <a:ext cx="8317582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When to use ML or DL?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9780D38-CB4F-2F51-BC0C-96710B43E1F5}"/>
              </a:ext>
            </a:extLst>
          </p:cNvPr>
          <p:cNvSpPr txBox="1"/>
          <p:nvPr/>
        </p:nvSpPr>
        <p:spPr>
          <a:xfrm>
            <a:off x="971550" y="1983298"/>
            <a:ext cx="13286133" cy="403443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Machine Learning when: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dataset is small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problem is structured </a:t>
            </a: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 tabular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Need easy interpretability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3200" spc="-20" dirty="0">
              <a:cs typeface="Source Sans Pro Light"/>
              <a:sym typeface="Wingdings" panose="05000000000000000000" pitchFamily="2" charset="2"/>
            </a:endParaRP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Deep Learning when: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The dataset is large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The data is unstructured and complex</a:t>
            </a:r>
            <a:endParaRPr lang="en-US" sz="32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78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D1AD-C1CD-0553-5CDE-541BD606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89ADCE-0E51-9A20-6D75-8AF90D587F82}"/>
              </a:ext>
            </a:extLst>
          </p:cNvPr>
          <p:cNvGrpSpPr/>
          <p:nvPr/>
        </p:nvGrpSpPr>
        <p:grpSpPr>
          <a:xfrm>
            <a:off x="0" y="546100"/>
            <a:ext cx="7200900" cy="828000"/>
            <a:chOff x="690396" y="8642689"/>
            <a:chExt cx="3370629" cy="439424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34C6010A-7287-6826-B366-9EB80D9552F7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60D83755-3ADF-3E1B-2EE9-5C22D1536EAE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9">
            <a:extLst>
              <a:ext uri="{FF2B5EF4-FFF2-40B4-BE49-F238E27FC236}">
                <a16:creationId xmlns:a16="http://schemas.microsoft.com/office/drawing/2014/main" id="{2340848F-0062-929B-54E9-11A7C9B851CD}"/>
              </a:ext>
            </a:extLst>
          </p:cNvPr>
          <p:cNvSpPr txBox="1"/>
          <p:nvPr/>
        </p:nvSpPr>
        <p:spPr>
          <a:xfrm>
            <a:off x="971550" y="530271"/>
            <a:ext cx="62293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How does DL work?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65A73016-8214-C817-28C0-A8CA34CE1679}"/>
              </a:ext>
            </a:extLst>
          </p:cNvPr>
          <p:cNvSpPr txBox="1"/>
          <p:nvPr/>
        </p:nvSpPr>
        <p:spPr>
          <a:xfrm>
            <a:off x="971550" y="1983298"/>
            <a:ext cx="13286133" cy="301621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DL works by using layered of neural network to perform</a:t>
            </a:r>
            <a:br>
              <a:rPr lang="en-US" sz="3200" spc="-20" dirty="0">
                <a:cs typeface="Source Sans Pro Light"/>
              </a:rPr>
            </a:br>
            <a:r>
              <a:rPr lang="en-US" sz="6600" b="1" spc="-20" dirty="0">
                <a:cs typeface="Source Sans Pro Light"/>
              </a:rPr>
              <a:t>prediction </a:t>
            </a:r>
            <a:r>
              <a:rPr lang="en-US" sz="6600" b="1" spc="-20" dirty="0">
                <a:cs typeface="Source Sans Pro Light"/>
                <a:sym typeface="Wingdings" panose="05000000000000000000" pitchFamily="2" charset="2"/>
              </a:rPr>
              <a:t> error  correction</a:t>
            </a:r>
            <a:br>
              <a:rPr lang="en-US" sz="3200" spc="-20" dirty="0">
                <a:cs typeface="Source Sans Pro Light"/>
                <a:sym typeface="Wingdings" panose="05000000000000000000" pitchFamily="2" charset="2"/>
              </a:rPr>
            </a:b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It is repeated until find the suitable model.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DL learn the features and learn to create the model from them.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In DL we can feed raw data such as Image, Text, Audio.</a:t>
            </a:r>
            <a:endParaRPr lang="en-US" sz="3200" dirty="0">
              <a:cs typeface="Source Sans Pro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9E755-8EBD-6670-6400-72E0F3D9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583" y="5608706"/>
            <a:ext cx="9939145" cy="47018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EEAB93-324C-DD21-E455-69C1CAC3535D}"/>
              </a:ext>
            </a:extLst>
          </p:cNvPr>
          <p:cNvSpPr txBox="1"/>
          <p:nvPr/>
        </p:nvSpPr>
        <p:spPr>
          <a:xfrm>
            <a:off x="4753046" y="10147292"/>
            <a:ext cx="9504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https://www.ibm.com/think/topics/deep-learning</a:t>
            </a:r>
          </a:p>
        </p:txBody>
      </p:sp>
    </p:spTree>
    <p:extLst>
      <p:ext uri="{BB962C8B-B14F-4D97-AF65-F5344CB8AC3E}">
        <p14:creationId xmlns:p14="http://schemas.microsoft.com/office/powerpoint/2010/main" val="131589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7848972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956B9AF0-2871-E876-7E48-DF65D909EAC9}"/>
              </a:ext>
            </a:extLst>
          </p:cNvPr>
          <p:cNvSpPr txBox="1"/>
          <p:nvPr/>
        </p:nvSpPr>
        <p:spPr>
          <a:xfrm>
            <a:off x="971550" y="530271"/>
            <a:ext cx="824557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Deep Learning Layers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0ADDABF3-AAD7-3115-1733-023650BDAF7C}"/>
              </a:ext>
            </a:extLst>
          </p:cNvPr>
          <p:cNvSpPr txBox="1"/>
          <p:nvPr/>
        </p:nvSpPr>
        <p:spPr>
          <a:xfrm>
            <a:off x="971550" y="1983298"/>
            <a:ext cx="14078221" cy="478592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spc="-20" dirty="0">
                <a:cs typeface="Source Sans Pro Light"/>
              </a:rPr>
              <a:t>Input Layer: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Receive the data as an input and passes it into the network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No learning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Number of neurons == number of input dimensions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Example: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Image RGB with size 64x64 need 64x64x3 = 12.288 neurons 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dirty="0">
                <a:cs typeface="Source Sans Pro Light"/>
              </a:rPr>
              <a:t>Hidden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Layer that processes and transform data to learn patterns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Each neuron perform the multiplication as shown in equation bellow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C3E0BD-785E-87E3-CFFE-75F452FB5C26}"/>
                  </a:ext>
                </a:extLst>
              </p:cNvPr>
              <p:cNvSpPr txBox="1"/>
              <p:nvPr/>
            </p:nvSpPr>
            <p:spPr>
              <a:xfrm>
                <a:off x="6571143" y="7002884"/>
                <a:ext cx="5291962" cy="2012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D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C3E0BD-785E-87E3-CFFE-75F452FB5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143" y="7002884"/>
                <a:ext cx="5291962" cy="2012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89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D596-236B-B836-9C73-C47BC533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1172072-6286-7273-DE3E-E79B4AFDF87B}"/>
              </a:ext>
            </a:extLst>
          </p:cNvPr>
          <p:cNvGrpSpPr/>
          <p:nvPr/>
        </p:nvGrpSpPr>
        <p:grpSpPr>
          <a:xfrm>
            <a:off x="0" y="546100"/>
            <a:ext cx="7848972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8510FA47-D4B8-B275-CD41-88734621E83C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AFB8231C-C33D-7531-C299-B6D4F61D4072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4EE1DC59-7BB3-0E4A-9D05-86A7B7CD6970}"/>
              </a:ext>
            </a:extLst>
          </p:cNvPr>
          <p:cNvSpPr txBox="1"/>
          <p:nvPr/>
        </p:nvSpPr>
        <p:spPr>
          <a:xfrm>
            <a:off x="971550" y="530271"/>
            <a:ext cx="824557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Deep Learning Layers</a:t>
            </a:r>
            <a:endParaRPr lang="cs-CZ" sz="5400" dirty="0">
              <a:cs typeface="Source Sans Pro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8C1639-C294-7B2B-8853-E07AFDF04DD7}"/>
                  </a:ext>
                </a:extLst>
              </p:cNvPr>
              <p:cNvSpPr txBox="1"/>
              <p:nvPr/>
            </p:nvSpPr>
            <p:spPr>
              <a:xfrm>
                <a:off x="7848972" y="1374092"/>
                <a:ext cx="5291962" cy="2012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D" sz="5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8C1639-C294-7B2B-8853-E07AFDF04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972" y="1374092"/>
                <a:ext cx="5291962" cy="2012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023ED5CA-7951-E4DC-547E-7A7906B87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656" y="3114452"/>
            <a:ext cx="133350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02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9629B-5418-7307-86D2-7F8C49B2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EC4BD4F-6934-D067-BED4-4FBD0EDD87AC}"/>
              </a:ext>
            </a:extLst>
          </p:cNvPr>
          <p:cNvGrpSpPr/>
          <p:nvPr/>
        </p:nvGrpSpPr>
        <p:grpSpPr>
          <a:xfrm>
            <a:off x="0" y="546100"/>
            <a:ext cx="7848972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4D7DE41-72A7-4608-540C-C29ACA006E22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BED7242C-D2AC-A7EC-5BC9-E41740776E1E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2B1CFEC6-B979-D1F7-5993-5343F78C27EC}"/>
              </a:ext>
            </a:extLst>
          </p:cNvPr>
          <p:cNvSpPr txBox="1"/>
          <p:nvPr/>
        </p:nvSpPr>
        <p:spPr>
          <a:xfrm>
            <a:off x="971550" y="530271"/>
            <a:ext cx="824557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Deep Learning Layers</a:t>
            </a:r>
            <a:endParaRPr lang="cs-CZ" sz="5400" dirty="0">
              <a:cs typeface="Source Sans Pro Light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43FB4F63-5CDE-8281-312A-C5DE54937A2E}"/>
              </a:ext>
            </a:extLst>
          </p:cNvPr>
          <p:cNvSpPr txBox="1"/>
          <p:nvPr/>
        </p:nvSpPr>
        <p:spPr>
          <a:xfrm>
            <a:off x="971550" y="1983298"/>
            <a:ext cx="14078221" cy="414472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spc="-20" dirty="0">
                <a:cs typeface="Source Sans Pro Light"/>
              </a:rPr>
              <a:t>Hidden Layer: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Inside the hidden layer we use activation function to make the model capture more complex pattern.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Example activation function: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 err="1">
                <a:cs typeface="Source Sans Pro Light"/>
              </a:rPr>
              <a:t>ReLU</a:t>
            </a:r>
            <a:r>
              <a:rPr lang="en-US" sz="3200" spc="-20" dirty="0">
                <a:cs typeface="Source Sans Pro Light"/>
              </a:rPr>
              <a:t> (Rectified Linear Unit)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Sigmoid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 err="1">
                <a:cs typeface="Source Sans Pro Light"/>
              </a:rPr>
              <a:t>Softmax</a:t>
            </a:r>
            <a:endParaRPr lang="en-US" sz="3200" spc="-20" dirty="0">
              <a:cs typeface="Source Sans Pro Light"/>
            </a:endParaRP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Tanh</a:t>
            </a:r>
            <a:endParaRPr lang="en-US" sz="3200" dirty="0">
              <a:cs typeface="Source Sans Pro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D160D-D91E-BACF-75D9-C0DB7F40A298}"/>
                  </a:ext>
                </a:extLst>
              </p:cNvPr>
              <p:cNvSpPr txBox="1"/>
              <p:nvPr/>
            </p:nvSpPr>
            <p:spPr>
              <a:xfrm>
                <a:off x="6572793" y="7134131"/>
                <a:ext cx="5864725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D160D-D91E-BACF-75D9-C0DB7F40A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793" y="7134131"/>
                <a:ext cx="5864725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9B508-24A5-8D0F-9510-7D75F34875E7}"/>
                  </a:ext>
                </a:extLst>
              </p:cNvPr>
              <p:cNvSpPr txBox="1"/>
              <p:nvPr/>
            </p:nvSpPr>
            <p:spPr>
              <a:xfrm>
                <a:off x="8033124" y="5121913"/>
                <a:ext cx="5291962" cy="2012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D" sz="5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99B508-24A5-8D0F-9510-7D75F3487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124" y="5121913"/>
                <a:ext cx="5291962" cy="2012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40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FA523-858A-6945-6546-8A3B55BD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704ED2F-2C0C-66E7-0307-58B408C5619A}"/>
              </a:ext>
            </a:extLst>
          </p:cNvPr>
          <p:cNvGrpSpPr/>
          <p:nvPr/>
        </p:nvGrpSpPr>
        <p:grpSpPr>
          <a:xfrm>
            <a:off x="0" y="546100"/>
            <a:ext cx="7848972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67345C49-1209-EFDB-5F37-38EE23AD3E40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1E5C3E09-A639-C7F1-091C-F2AC615EFAFD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DE9D40DA-AABC-4DB1-9AFA-58CCBF343127}"/>
              </a:ext>
            </a:extLst>
          </p:cNvPr>
          <p:cNvSpPr txBox="1"/>
          <p:nvPr/>
        </p:nvSpPr>
        <p:spPr>
          <a:xfrm>
            <a:off x="971550" y="530271"/>
            <a:ext cx="824557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Deep Learning Layers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794C2F9A-9FB0-3F90-64E0-60FF25555C00}"/>
              </a:ext>
            </a:extLst>
          </p:cNvPr>
          <p:cNvSpPr txBox="1"/>
          <p:nvPr/>
        </p:nvSpPr>
        <p:spPr>
          <a:xfrm>
            <a:off x="971550" y="1983298"/>
            <a:ext cx="14078221" cy="26289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spc="-20" dirty="0">
                <a:cs typeface="Source Sans Pro Light"/>
              </a:rPr>
              <a:t>Output Layer: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final layer of a neural network.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Decide the result from the pattern that learn by hidden layers.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The number of neuron in the output layer depend on the number of label to predict.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B2581E-8C98-D915-A459-48F0C24D78A9}"/>
                  </a:ext>
                </a:extLst>
              </p:cNvPr>
              <p:cNvSpPr txBox="1"/>
              <p:nvPr/>
            </p:nvSpPr>
            <p:spPr>
              <a:xfrm>
                <a:off x="6571143" y="7002884"/>
                <a:ext cx="5291962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𝑊h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D" sz="5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B2581E-8C98-D915-A459-48F0C24D7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143" y="7002884"/>
                <a:ext cx="5291962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33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C292-2912-C304-C005-2A5567B0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9C3C54C-3695-8FB9-F421-C72D385140FD}"/>
              </a:ext>
            </a:extLst>
          </p:cNvPr>
          <p:cNvGrpSpPr/>
          <p:nvPr/>
        </p:nvGrpSpPr>
        <p:grpSpPr>
          <a:xfrm>
            <a:off x="0" y="546100"/>
            <a:ext cx="7848972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E88065D7-4F14-2608-1FA4-FCC28133F896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1257309A-FEDB-7FEC-2DF2-A7EB6DD502C9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45A49751-0A6A-CF1B-B669-8C59A14D6498}"/>
              </a:ext>
            </a:extLst>
          </p:cNvPr>
          <p:cNvSpPr txBox="1"/>
          <p:nvPr/>
        </p:nvSpPr>
        <p:spPr>
          <a:xfrm>
            <a:off x="971550" y="530271"/>
            <a:ext cx="8245574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MLP mechanism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233EC9E0-186F-A541-E821-37B935C888B8}"/>
              </a:ext>
            </a:extLst>
          </p:cNvPr>
          <p:cNvSpPr txBox="1"/>
          <p:nvPr/>
        </p:nvSpPr>
        <p:spPr>
          <a:xfrm>
            <a:off x="971550" y="1983298"/>
            <a:ext cx="15806414" cy="854336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spc="-20" dirty="0">
                <a:cs typeface="Source Sans Pro Light"/>
              </a:rPr>
              <a:t>MLP (Multilayer Perceptron)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very simple architecture of deep learning that only contain input layer, hidden layer, and output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Mechanism </a:t>
            </a:r>
            <a:br>
              <a:rPr lang="en-US" sz="3200" spc="-20" dirty="0">
                <a:cs typeface="Source Sans Pro Light"/>
              </a:rPr>
            </a:br>
            <a:r>
              <a:rPr lang="en-US" sz="4400" b="1" spc="-20" dirty="0">
                <a:cs typeface="Source Sans Pro Light"/>
              </a:rPr>
              <a:t>Forward pass </a:t>
            </a:r>
            <a:r>
              <a:rPr lang="en-US" sz="4400" b="1" spc="-20" dirty="0">
                <a:cs typeface="Source Sans Pro Light"/>
                <a:sym typeface="Wingdings" panose="05000000000000000000" pitchFamily="2" charset="2"/>
              </a:rPr>
              <a:t> Loss  Backpropagation  Parameter update</a:t>
            </a:r>
          </a:p>
          <a:p>
            <a:pPr marL="469900" lvl="1">
              <a:spcBef>
                <a:spcPts val="100"/>
              </a:spcBef>
            </a:pPr>
            <a:endParaRPr lang="en-US" sz="4400" b="1" spc="-20" dirty="0">
              <a:cs typeface="Source Sans Pro Light"/>
              <a:sym typeface="Wingdings" panose="05000000000000000000" pitchFamily="2" charset="2"/>
            </a:endParaRP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  <a:sym typeface="Wingdings" panose="05000000000000000000" pitchFamily="2" charset="2"/>
              </a:rPr>
              <a:t>Forward Pass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Make a prediction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Data flow from input until output layer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cs typeface="Source Sans Pro Light"/>
              </a:rPr>
              <a:t>Loss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Calculate the error in the output layer compared to ground truth 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Using certain loss function (e.g. cross-entropy)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cs typeface="Source Sans Pro Light"/>
              </a:rPr>
              <a:t>Backpropagation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Compute gradients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cs typeface="Source Sans Pro Light"/>
              </a:rPr>
              <a:t>Error flow from output back through layers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cs typeface="Source Sans Pro Light"/>
              </a:rPr>
              <a:t>Update parameter in the direction reduce error</a:t>
            </a:r>
          </a:p>
        </p:txBody>
      </p:sp>
    </p:spTree>
    <p:extLst>
      <p:ext uri="{BB962C8B-B14F-4D97-AF65-F5344CB8AC3E}">
        <p14:creationId xmlns:p14="http://schemas.microsoft.com/office/powerpoint/2010/main" val="111579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4094957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4B263B08-548D-DA27-4302-EF2E880E1D04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CNN</a:t>
            </a:r>
            <a:endParaRPr lang="cs-CZ" sz="5400" dirty="0">
              <a:cs typeface="Source Sans Pro Light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7EB86486-1027-9899-1CDF-4896BF39B242}"/>
              </a:ext>
            </a:extLst>
          </p:cNvPr>
          <p:cNvSpPr txBox="1"/>
          <p:nvPr/>
        </p:nvSpPr>
        <p:spPr>
          <a:xfrm>
            <a:off x="971550" y="1983298"/>
            <a:ext cx="14078221" cy="515525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000" b="1" spc="-20" dirty="0">
                <a:cs typeface="Source Sans Pro Light"/>
              </a:rPr>
              <a:t>CNN (Convolutional Neural Network)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CNN is a type of DL architecture that suitable to process grid-like data (e.g. Images)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common task that suitable with CNN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Image classification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Object detection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Face recognition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Why not using MLP??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input is very large </a:t>
            </a: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 has too many parameters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No understanding of spatial structure (each pixel is processed individually)</a:t>
            </a:r>
            <a:endParaRPr lang="en-US" sz="32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18826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C64B-141D-F9D5-EDE9-2D566964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322FFCD-F8F2-E604-B303-E056F8975E63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56DE0183-ECBA-8AA9-0548-7CCEC624FC15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04B01416-0B65-B0CA-879B-6B3769282BB5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D5F750A9-6458-E4F5-9BB9-E792E986ACEF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CNN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91D7668E-5535-7D40-18A5-7FE88AD0B645}"/>
              </a:ext>
            </a:extLst>
          </p:cNvPr>
          <p:cNvSpPr txBox="1"/>
          <p:nvPr/>
        </p:nvSpPr>
        <p:spPr>
          <a:xfrm>
            <a:off x="971550" y="1983298"/>
            <a:ext cx="15230349" cy="302390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Main component of CNN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Convolutional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Feature Maps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Activation Function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Pooling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Fully Connected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3BCBE-6BF4-8EA8-E5D3-6E1D2FF63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5436767"/>
            <a:ext cx="14146436" cy="468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67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27B5-B872-AA6F-7B53-DDF0EFE3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E1D75BE-C09A-DDDB-C6EC-C61AC601ADCB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E87E97F0-48AE-67FC-F03F-F2736ED0E691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E0C4F9CA-C9B8-FADB-2029-80D00BA333E2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A1BBE8B7-170A-E456-12BB-430B4377B1D6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Convolutional Layer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4C5773A5-7276-5DCE-2A9D-8DE44132468C}"/>
              </a:ext>
            </a:extLst>
          </p:cNvPr>
          <p:cNvSpPr txBox="1"/>
          <p:nvPr/>
        </p:nvSpPr>
        <p:spPr>
          <a:xfrm>
            <a:off x="971551" y="1983298"/>
            <a:ext cx="8149284" cy="752000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Convolutional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Convolutional layer is used to extract meaningful features from data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Example: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Edges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Corners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Textures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Shapes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How does convolutional layer works?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A convolutional layer applies small learnable filters (kernels)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kernel usually consist of small window (3x3)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kernel are sliding across the image and compute a value at each position.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8E61A44-0722-ACCF-B507-13B561DD7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227" y="1871237"/>
            <a:ext cx="8149283" cy="455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14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2426-DD00-FF67-64E4-05B1C045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9E9026C-DDA4-B774-701F-47DA9457A7C8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B65C1AA-F6F2-0ACB-3559-69121444BB28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38506CD1-6CC5-EA9B-2D59-7508287DFA5C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E6476364-15C0-D846-F0EF-808323739432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Convolutional Layer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57319FA1-EE5E-407E-FE44-28131D6866BE}"/>
              </a:ext>
            </a:extLst>
          </p:cNvPr>
          <p:cNvSpPr txBox="1"/>
          <p:nvPr/>
        </p:nvSpPr>
        <p:spPr>
          <a:xfrm>
            <a:off x="971551" y="1983298"/>
            <a:ext cx="8149284" cy="100283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Element-wise multiplication + summation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3200" spc="-20" dirty="0">
              <a:cs typeface="Source Sans Pro Light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983834F-05CE-AFFC-DF38-A5E9B7E2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757" y="3330476"/>
            <a:ext cx="12044798" cy="57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F79F48-A39F-7549-37E2-FA069E554F3E}"/>
              </a:ext>
            </a:extLst>
          </p:cNvPr>
          <p:cNvSpPr txBox="1"/>
          <p:nvPr/>
        </p:nvSpPr>
        <p:spPr>
          <a:xfrm>
            <a:off x="3516340" y="9393648"/>
            <a:ext cx="9504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https://medium.com/@pranjalkhadka/understanding-convolutional-neural-network-cnns-e6f6e58fe249</a:t>
            </a:r>
          </a:p>
        </p:txBody>
      </p:sp>
    </p:spTree>
    <p:extLst>
      <p:ext uri="{BB962C8B-B14F-4D97-AF65-F5344CB8AC3E}">
        <p14:creationId xmlns:p14="http://schemas.microsoft.com/office/powerpoint/2010/main" val="2817545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A64F-9F15-9FB2-04AA-AA54F90B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0D426E6-F913-3393-3056-00C9F85C1173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CE5F1CB3-CBB8-4162-D8B3-37C355FB254B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7457C0BF-EE59-6946-24CE-A35F634F0489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B25A2AB3-A4EE-0BA8-9B3C-05682BA86CA1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Convolutional Layer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AA9550BC-BA7D-4F68-AEA0-9EA1779E5F4D}"/>
              </a:ext>
            </a:extLst>
          </p:cNvPr>
          <p:cNvSpPr txBox="1"/>
          <p:nvPr/>
        </p:nvSpPr>
        <p:spPr>
          <a:xfrm>
            <a:off x="971550" y="1983298"/>
            <a:ext cx="11557941" cy="555023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Components of Convolutional Layer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Kernel (Filter)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Use to extract features from input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Small matrix (e.g. 3x3, 5x5)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Stride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How far the filter moves each step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Larger stride means smaller output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Padding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Adding zeros around the image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Feature Map (Output)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Result of applying one filter</a:t>
            </a:r>
          </a:p>
        </p:txBody>
      </p:sp>
      <p:pic>
        <p:nvPicPr>
          <p:cNvPr id="10242" name="Picture 2" descr="Understanding Convolutional Neural Networks (CNNs) for Beginners | by  Sushmita Nandi | Medium">
            <a:extLst>
              <a:ext uri="{FF2B5EF4-FFF2-40B4-BE49-F238E27FC236}">
                <a16:creationId xmlns:a16="http://schemas.microsoft.com/office/drawing/2014/main" id="{E4B6FD90-F47B-5AE4-CB2D-1ADB689D3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08" y="2224220"/>
            <a:ext cx="7219722" cy="506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55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047F-681F-4EFA-1662-02841E1C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E3BE78A-EE30-6129-A959-E775DA36FA6C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D01F8A5E-548F-083A-A22C-D5EDF8E97069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BB865950-C9CB-D5CA-A2A4-C31932C4608E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6327838F-8A0A-0DEE-6175-7F8ADC740BAF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Feature Map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E227C30B-7253-A404-908B-3DC000AAD484}"/>
              </a:ext>
            </a:extLst>
          </p:cNvPr>
          <p:cNvSpPr txBox="1"/>
          <p:nvPr/>
        </p:nvSpPr>
        <p:spPr>
          <a:xfrm>
            <a:off x="971550" y="1983298"/>
            <a:ext cx="14366254" cy="251863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Feature map is the output of a convolutional layer after applying a filter (kernel)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feature maps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Preserve spatial information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Highlight important regions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Reduce raw complexity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A469D-AD9B-82A3-406F-C98563248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5436767"/>
            <a:ext cx="14146436" cy="468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41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4203-1A99-D71F-56D5-BDBAA4D8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5110923-0149-7848-C4E2-0C5308BC0C38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D778E5BC-05A8-20CF-929F-7656A6B19DFA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C1D151F2-88CC-2385-9493-5E5D84C988D5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B0E9D870-F33D-89AA-006A-20B6884D3FBF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Activation Function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2E57553D-E6CF-06A4-C47F-AA05414776A5}"/>
              </a:ext>
            </a:extLst>
          </p:cNvPr>
          <p:cNvSpPr txBox="1"/>
          <p:nvPr/>
        </p:nvSpPr>
        <p:spPr>
          <a:xfrm>
            <a:off x="971550" y="1983298"/>
            <a:ext cx="14366254" cy="19749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Activation function is use to decide how strong the neuron should pass information forward.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activation function makes neural networks non-linear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Best practice: </a:t>
            </a:r>
            <a:r>
              <a:rPr lang="en-US" sz="3200" dirty="0" err="1"/>
              <a:t>ReLU</a:t>
            </a:r>
            <a:r>
              <a:rPr lang="en-US" sz="3200" dirty="0"/>
              <a:t> is used in hidden layer</a:t>
            </a:r>
          </a:p>
        </p:txBody>
      </p:sp>
      <p:pic>
        <p:nvPicPr>
          <p:cNvPr id="11266" name="Picture 2" descr="Introduction to Exponential Linear Unit | by Krishna | Medium">
            <a:extLst>
              <a:ext uri="{FF2B5EF4-FFF2-40B4-BE49-F238E27FC236}">
                <a16:creationId xmlns:a16="http://schemas.microsoft.com/office/drawing/2014/main" id="{06C59572-F3F0-02C1-24B0-672F5F62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146" y="4484508"/>
            <a:ext cx="10886729" cy="547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22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1FA0-02A0-37AF-6C94-6C66F03A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017F8D22-293B-9234-ACC6-2787959CD189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08B39040-DC33-71D2-FFC4-10CC7321E24D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3EEB850E-7558-D620-8F98-EBB3B0AF9DF1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ED6A4F26-C21F-75B8-E896-53F1B04A57FA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Pooling layer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6E3B7589-AF99-6E55-6302-76DA7BAF3276}"/>
              </a:ext>
            </a:extLst>
          </p:cNvPr>
          <p:cNvSpPr txBox="1"/>
          <p:nvPr/>
        </p:nvSpPr>
        <p:spPr>
          <a:xfrm>
            <a:off x="971550" y="1983298"/>
            <a:ext cx="14366254" cy="345222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Pooling layer is a down sampling operation of the feature map.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It used to reduce spatial size of feature map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Type of pooling: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Max pooling </a:t>
            </a:r>
            <a:r>
              <a:rPr lang="en-US" sz="3200" b="1" dirty="0">
                <a:sym typeface="Wingdings" panose="05000000000000000000" pitchFamily="2" charset="2"/>
              </a:rPr>
              <a:t> strongest feature</a:t>
            </a:r>
            <a:endParaRPr lang="en-US" sz="32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Average pooling </a:t>
            </a:r>
            <a:r>
              <a:rPr lang="en-US" sz="3200" dirty="0">
                <a:sym typeface="Wingdings" panose="05000000000000000000" pitchFamily="2" charset="2"/>
              </a:rPr>
              <a:t> overall info</a:t>
            </a:r>
            <a:endParaRPr lang="en-US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Min pooling </a:t>
            </a:r>
            <a:r>
              <a:rPr lang="en-US" sz="3200" dirty="0">
                <a:sym typeface="Wingdings" panose="05000000000000000000" pitchFamily="2" charset="2"/>
              </a:rPr>
              <a:t> weakest feature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13314" name="Picture 2" descr="What is Convolutional Neural Network (CNN) ? — with Keras | by Caner Dabakoglu | Medium">
            <a:extLst>
              <a:ext uri="{FF2B5EF4-FFF2-40B4-BE49-F238E27FC236}">
                <a16:creationId xmlns:a16="http://schemas.microsoft.com/office/drawing/2014/main" id="{5CF4728E-7925-AE8F-B020-A54DBFE26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396" y="4311322"/>
            <a:ext cx="6691082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99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8B80E-704B-163B-5EE2-E4F4BF02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E047F5A-2238-F9DD-98E6-1CB965CDEB4E}"/>
              </a:ext>
            </a:extLst>
          </p:cNvPr>
          <p:cNvGrpSpPr/>
          <p:nvPr/>
        </p:nvGrpSpPr>
        <p:grpSpPr>
          <a:xfrm>
            <a:off x="0" y="546100"/>
            <a:ext cx="8101558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3DDFE6DF-5391-4C8A-509E-F0665A0E107A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81E786C5-5C6C-8782-1304-5283ABD2A935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96105DE0-2B27-2BD1-5924-5A7561C7DFA9}"/>
              </a:ext>
            </a:extLst>
          </p:cNvPr>
          <p:cNvSpPr txBox="1"/>
          <p:nvPr/>
        </p:nvSpPr>
        <p:spPr>
          <a:xfrm>
            <a:off x="971550" y="530271"/>
            <a:ext cx="810155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>
                <a:solidFill>
                  <a:srgbClr val="FFFFFF"/>
                </a:solidFill>
                <a:cs typeface="Source Sans Pro Light"/>
              </a:rPr>
              <a:t>Fully connected layer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763A8317-6ADC-818E-BD38-97F68E81E8F0}"/>
              </a:ext>
            </a:extLst>
          </p:cNvPr>
          <p:cNvSpPr txBox="1"/>
          <p:nvPr/>
        </p:nvSpPr>
        <p:spPr>
          <a:xfrm>
            <a:off x="971550" y="1983298"/>
            <a:ext cx="25494644" cy="394467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Fully connected layer also called as dense layer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Every neuron is connected to all neurons from the previous layer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The expected input of fully connected layer is 1D vector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But the output from feature layer is 3D, the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/>
              <a:t>Flatten layer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/>
              <a:t>GAP (Global Average Pooling)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14340" name="Picture 4" descr="Global Average Pooling">
            <a:extLst>
              <a:ext uri="{FF2B5EF4-FFF2-40B4-BE49-F238E27FC236}">
                <a16:creationId xmlns:a16="http://schemas.microsoft.com/office/drawing/2014/main" id="{8EECEBB3-1C1A-1907-E5D9-0B75248AF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5556" y="3881953"/>
            <a:ext cx="4680520" cy="599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Multi-scale residual network model combined with Global Average Pooling for  action recognition | Multimedia Tools and Applications | Springer Nature  Link">
            <a:extLst>
              <a:ext uri="{FF2B5EF4-FFF2-40B4-BE49-F238E27FC236}">
                <a16:creationId xmlns:a16="http://schemas.microsoft.com/office/drawing/2014/main" id="{EB4CE126-3FDD-0B9D-0789-58FB2BBDE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356" y="5361066"/>
            <a:ext cx="8660666" cy="4513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91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gnetic Fields - by Lifeliqe autor Michael Carter.pptx" id="{1CD8B0ED-503E-4F9D-BE1F-EA91A594AAD6}" vid="{DDA4976A-1FAE-4427-8059-0A415774D0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Magnetism Magnetic Fields</Template>
  <TotalTime>5806</TotalTime>
  <Words>807</Words>
  <Application>Microsoft Office PowerPoint</Application>
  <PresentationFormat>Custom</PresentationFormat>
  <Paragraphs>134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Source Sans Pro</vt:lpstr>
      <vt:lpstr>Source Sans Pro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Institut Teknologi Sepuluh Nopember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Rizka Wakhidatus Sholikah</dc:creator>
  <cp:lastModifiedBy>Rizka Wakhidatus Sholikah</cp:lastModifiedBy>
  <cp:revision>4</cp:revision>
  <dcterms:created xsi:type="dcterms:W3CDTF">2026-04-27T01:42:07Z</dcterms:created>
  <dcterms:modified xsi:type="dcterms:W3CDTF">2026-05-04T05:40:21Z</dcterms:modified>
</cp:coreProperties>
</file>